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5" r:id="rId5"/>
    <p:sldId id="259" r:id="rId6"/>
    <p:sldId id="267" r:id="rId7"/>
    <p:sldId id="275" r:id="rId8"/>
    <p:sldId id="268" r:id="rId9"/>
    <p:sldId id="269" r:id="rId10"/>
    <p:sldId id="270" r:id="rId11"/>
    <p:sldId id="271" r:id="rId12"/>
    <p:sldId id="272" r:id="rId13"/>
    <p:sldId id="273" r:id="rId14"/>
    <p:sldId id="274" r:id="rId15"/>
    <p:sldId id="264" r:id="rId16"/>
    <p:sldId id="276"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A9119-8600-41C0-9D23-A09797EEA137}" type="datetimeFigureOut">
              <a:rPr lang="en-IN" smtClean="0"/>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9126A5-C552-4B90-A95D-802E5060EB3B}" type="slidenum">
              <a:rPr lang="en-IN" smtClean="0"/>
              <a:t>‹#›</a:t>
            </a:fld>
            <a:endParaRPr lang="en-IN"/>
          </a:p>
        </p:txBody>
      </p:sp>
    </p:spTree>
    <p:extLst>
      <p:ext uri="{BB962C8B-B14F-4D97-AF65-F5344CB8AC3E}">
        <p14:creationId xmlns:p14="http://schemas.microsoft.com/office/powerpoint/2010/main" val="196052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013622-15DD-42DB-94A2-CC190AAE8F19}" type="slidenum">
              <a:rPr lang="en-IN" smtClean="0"/>
              <a:t>2</a:t>
            </a:fld>
            <a:endParaRPr lang="en-IN"/>
          </a:p>
        </p:txBody>
      </p:sp>
    </p:spTree>
    <p:extLst>
      <p:ext uri="{BB962C8B-B14F-4D97-AF65-F5344CB8AC3E}">
        <p14:creationId xmlns:p14="http://schemas.microsoft.com/office/powerpoint/2010/main" val="2188452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9126A5-C552-4B90-A95D-802E5060EB3B}" type="slidenum">
              <a:rPr lang="en-IN" smtClean="0"/>
              <a:t>6</a:t>
            </a:fld>
            <a:endParaRPr lang="en-IN"/>
          </a:p>
        </p:txBody>
      </p:sp>
    </p:spTree>
    <p:extLst>
      <p:ext uri="{BB962C8B-B14F-4D97-AF65-F5344CB8AC3E}">
        <p14:creationId xmlns:p14="http://schemas.microsoft.com/office/powerpoint/2010/main" val="725262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013622-15DD-42DB-94A2-CC190AAE8F19}" type="slidenum">
              <a:rPr lang="en-IN" smtClean="0"/>
              <a:t>14</a:t>
            </a:fld>
            <a:endParaRPr lang="en-IN"/>
          </a:p>
        </p:txBody>
      </p:sp>
    </p:spTree>
    <p:extLst>
      <p:ext uri="{BB962C8B-B14F-4D97-AF65-F5344CB8AC3E}">
        <p14:creationId xmlns:p14="http://schemas.microsoft.com/office/powerpoint/2010/main" val="2212760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5F860-9A4F-A739-3894-FFFD4D7609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C36C8E-C388-DF87-EE37-CD35079AF6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9423D7-4A43-287A-E802-F462B9D6BC2C}"/>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5" name="Footer Placeholder 4">
            <a:extLst>
              <a:ext uri="{FF2B5EF4-FFF2-40B4-BE49-F238E27FC236}">
                <a16:creationId xmlns:a16="http://schemas.microsoft.com/office/drawing/2014/main" id="{4FFC5850-708A-BC00-73F9-B3A04E9C31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D65084-8D0D-3938-8EF3-82961716B0E2}"/>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338706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D55B-81BD-5F75-AF3E-FC60E438F8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9C150F-313F-F850-7761-E984569742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9B7F43-397F-4BD7-1315-C6BC2BDADD10}"/>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5" name="Footer Placeholder 4">
            <a:extLst>
              <a:ext uri="{FF2B5EF4-FFF2-40B4-BE49-F238E27FC236}">
                <a16:creationId xmlns:a16="http://schemas.microsoft.com/office/drawing/2014/main" id="{85B34C40-4095-2F24-F259-46E8E0CC12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4EE44F-992A-8414-6120-C2D6F0ED554E}"/>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815755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EFF2-AB84-9BFF-B9FB-75EDBACF2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6BD665-C9F0-C0CB-FD83-58D82EEB0F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C7FA41-3586-1383-A515-0E75E2978571}"/>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5" name="Footer Placeholder 4">
            <a:extLst>
              <a:ext uri="{FF2B5EF4-FFF2-40B4-BE49-F238E27FC236}">
                <a16:creationId xmlns:a16="http://schemas.microsoft.com/office/drawing/2014/main" id="{11DC64F0-E8A3-E4CD-53B1-3FA0B261B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8941AB-F385-A334-4A9E-5A963AD8B34C}"/>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3459182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7C6F4-BEAA-9993-A83B-44B6867246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2D61B3-E8EC-1D65-A742-3E1E08BB4A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554131-57F3-1C42-2130-768F959D6B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008877-4367-622A-3208-CABE98FFFF93}"/>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6" name="Footer Placeholder 5">
            <a:extLst>
              <a:ext uri="{FF2B5EF4-FFF2-40B4-BE49-F238E27FC236}">
                <a16:creationId xmlns:a16="http://schemas.microsoft.com/office/drawing/2014/main" id="{B272CD75-9622-2B2D-AA66-D19EAD53A3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AB245C-35BB-68C9-BCFA-2C9A5C9EC9F3}"/>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316750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7DE10-806C-907C-7430-E358ED060B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4C441B-D9A5-0866-46E4-00BF73CB0C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97710B-6A5A-F6B5-FE2F-5D40AD1C24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77035A-F231-2DE6-25EA-AF87B596FB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D18A0-27A2-FED4-A218-7B0A6B157A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519596-FD3E-FB50-E40F-65B4892A1706}"/>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8" name="Footer Placeholder 7">
            <a:extLst>
              <a:ext uri="{FF2B5EF4-FFF2-40B4-BE49-F238E27FC236}">
                <a16:creationId xmlns:a16="http://schemas.microsoft.com/office/drawing/2014/main" id="{F6F5FA87-151F-64E8-FD65-E9D7BF052E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DFD60A-11FF-FAF5-7B1E-4D87C8912AD4}"/>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3554244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0DE5-26B5-86E6-C95A-DBAD3B08C1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CB837F-2029-4213-DFB6-06681D163692}"/>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4" name="Footer Placeholder 3">
            <a:extLst>
              <a:ext uri="{FF2B5EF4-FFF2-40B4-BE49-F238E27FC236}">
                <a16:creationId xmlns:a16="http://schemas.microsoft.com/office/drawing/2014/main" id="{76B3D2DF-E69D-E6E8-8A6D-2DD0903622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D0085D-05D8-CCF2-E1CC-A458771B90B3}"/>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2506096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675B02-6C70-4B9F-9A37-084793F56D72}"/>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3" name="Footer Placeholder 2">
            <a:extLst>
              <a:ext uri="{FF2B5EF4-FFF2-40B4-BE49-F238E27FC236}">
                <a16:creationId xmlns:a16="http://schemas.microsoft.com/office/drawing/2014/main" id="{5196A383-F641-4A35-8BFD-5B8523038A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BA0ED3-8284-6536-B3F0-DD0888D868E2}"/>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2267881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DB58B-2C7D-7E8E-9544-111AB9649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58196D-020E-D8E7-4736-6A55E1C814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E549AA-ED67-A21A-0FC3-E4D8A08906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E3A13-6704-A573-A354-DE5D112906E6}"/>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6" name="Footer Placeholder 5">
            <a:extLst>
              <a:ext uri="{FF2B5EF4-FFF2-40B4-BE49-F238E27FC236}">
                <a16:creationId xmlns:a16="http://schemas.microsoft.com/office/drawing/2014/main" id="{CB2ECA55-7393-6137-D922-836DB917B9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C702CF-081A-2904-FF4D-1D356B316B81}"/>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266698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BB1B1-04FA-BA97-ECF3-61DC65F63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19CD45-DF68-C3A7-BD38-85F9475A8C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3FBEC8-520C-F3D8-32A4-F28A1F7863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F23C3C-D233-ADAB-3F5E-E6454E2132F7}"/>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6" name="Footer Placeholder 5">
            <a:extLst>
              <a:ext uri="{FF2B5EF4-FFF2-40B4-BE49-F238E27FC236}">
                <a16:creationId xmlns:a16="http://schemas.microsoft.com/office/drawing/2014/main" id="{D419CA25-313A-AF8C-21AA-138D164970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AE6AF0-DC1A-B8F8-6270-A0E813EDE8A3}"/>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3348178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C084-6F32-171F-D9C3-7CA541F0652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BB6EB3-00FF-1C3A-C216-0C897611D0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D2BBC5-EF81-5A65-FB85-4B780ED4E336}"/>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5" name="Footer Placeholder 4">
            <a:extLst>
              <a:ext uri="{FF2B5EF4-FFF2-40B4-BE49-F238E27FC236}">
                <a16:creationId xmlns:a16="http://schemas.microsoft.com/office/drawing/2014/main" id="{EAB53B67-C9BE-100D-FFDF-EFAB37A602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3E983-F95C-E165-8104-5A0DEA883150}"/>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4015479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9A19F7-6182-36C3-E8A3-4EB194F835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C48814-E165-CD1C-29F0-6E790C73B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367670-9EAD-345D-E528-1DC2E201C13B}"/>
              </a:ext>
            </a:extLst>
          </p:cNvPr>
          <p:cNvSpPr>
            <a:spLocks noGrp="1"/>
          </p:cNvSpPr>
          <p:nvPr>
            <p:ph type="dt" sz="half" idx="10"/>
          </p:nvPr>
        </p:nvSpPr>
        <p:spPr/>
        <p:txBody>
          <a:bodyPr/>
          <a:lstStyle/>
          <a:p>
            <a:fld id="{F4AA9AC0-57E6-4806-9FC7-7423DB7F4C34}" type="datetimeFigureOut">
              <a:rPr lang="en-IN" smtClean="0"/>
              <a:t>07-05-2026</a:t>
            </a:fld>
            <a:endParaRPr lang="en-IN"/>
          </a:p>
        </p:txBody>
      </p:sp>
      <p:sp>
        <p:nvSpPr>
          <p:cNvPr id="5" name="Footer Placeholder 4">
            <a:extLst>
              <a:ext uri="{FF2B5EF4-FFF2-40B4-BE49-F238E27FC236}">
                <a16:creationId xmlns:a16="http://schemas.microsoft.com/office/drawing/2014/main" id="{2C7B1160-5BD2-9A1A-672F-408A7CA50F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EEA2FB-723E-4243-EE93-2068E73D721C}"/>
              </a:ext>
            </a:extLst>
          </p:cNvPr>
          <p:cNvSpPr>
            <a:spLocks noGrp="1"/>
          </p:cNvSpPr>
          <p:nvPr>
            <p:ph type="sldNum" sz="quarter" idx="12"/>
          </p:nvPr>
        </p:nvSpPr>
        <p:spPr/>
        <p:txBody>
          <a:bodyPr/>
          <a:lstStyle/>
          <a:p>
            <a:fld id="{44FD0074-00CC-4555-ACF0-C7232A56936B}" type="slidenum">
              <a:rPr lang="en-IN" smtClean="0"/>
              <a:t>‹#›</a:t>
            </a:fld>
            <a:endParaRPr lang="en-IN"/>
          </a:p>
        </p:txBody>
      </p:sp>
    </p:spTree>
    <p:extLst>
      <p:ext uri="{BB962C8B-B14F-4D97-AF65-F5344CB8AC3E}">
        <p14:creationId xmlns:p14="http://schemas.microsoft.com/office/powerpoint/2010/main" val="1950494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953467" y="713333"/>
            <a:ext cx="102784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3333"/>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960000" y="1907933"/>
            <a:ext cx="10272000" cy="42368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1219170" lvl="1" indent="-40639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828754" lvl="2"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2438339" lvl="3"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3047924" lvl="4"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3657509" lvl="5"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4267093" lvl="6"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4876678" lvl="7"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5486263" lvl="8" indent="-40639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extLst>
      <p:ext uri="{BB962C8B-B14F-4D97-AF65-F5344CB8AC3E}">
        <p14:creationId xmlns:p14="http://schemas.microsoft.com/office/powerpoint/2010/main" val="3092926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9C6CFD-5814-9ED2-2B86-FB0EFC1911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3DC0D5-8BE2-6BE9-7867-7896523C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08E352-CF57-5519-65F6-A40208BAD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9AC0-57E6-4806-9FC7-7423DB7F4C34}" type="datetimeFigureOut">
              <a:rPr lang="en-IN" smtClean="0"/>
              <a:t>07-05-2026</a:t>
            </a:fld>
            <a:endParaRPr lang="en-IN"/>
          </a:p>
        </p:txBody>
      </p:sp>
      <p:sp>
        <p:nvSpPr>
          <p:cNvPr id="5" name="Footer Placeholder 4">
            <a:extLst>
              <a:ext uri="{FF2B5EF4-FFF2-40B4-BE49-F238E27FC236}">
                <a16:creationId xmlns:a16="http://schemas.microsoft.com/office/drawing/2014/main" id="{D685BFA5-9814-9D77-9580-804B22957E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168CBE-BD77-44C6-20FA-5A465825A1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FD0074-00CC-4555-ACF0-C7232A56936B}" type="slidenum">
              <a:rPr lang="en-IN" smtClean="0"/>
              <a:t>‹#›</a:t>
            </a:fld>
            <a:endParaRPr lang="en-IN"/>
          </a:p>
        </p:txBody>
      </p:sp>
    </p:spTree>
    <p:extLst>
      <p:ext uri="{BB962C8B-B14F-4D97-AF65-F5344CB8AC3E}">
        <p14:creationId xmlns:p14="http://schemas.microsoft.com/office/powerpoint/2010/main" val="4120334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207360" y="335001"/>
            <a:ext cx="11666291" cy="2016000"/>
          </a:xfrm>
          <a:prstGeom prst="rect">
            <a:avLst/>
          </a:prstGeom>
          <a:noFill/>
          <a:ln>
            <a:noFill/>
          </a:ln>
        </p:spPr>
        <p:txBody>
          <a:bodyPr lIns="120000" tIns="60000" rIns="120000" bIns="60000" anchor="t">
            <a:noAutofit/>
          </a:bodyPr>
          <a:lstStyle/>
          <a:p>
            <a:pPr algn="ctr">
              <a:lnSpc>
                <a:spcPct val="100000"/>
              </a:lnSpc>
            </a:pPr>
            <a:r>
              <a:rPr lang="en-US" sz="3733" b="1" spc="-133" dirty="0">
                <a:solidFill>
                  <a:srgbClr val="8A0000"/>
                </a:solidFill>
                <a:latin typeface="Arial Black" panose="020B0A04020102020204" pitchFamily="34" charset="0"/>
                <a:ea typeface="+mj-ea"/>
                <a:cs typeface="Arial" panose="020B0604020202020204" pitchFamily="34" charset="0"/>
              </a:rPr>
              <a:t>Senior Design Project </a:t>
            </a:r>
            <a:r>
              <a:rPr lang="en-US" sz="3733" b="1" cap="all" spc="-133" dirty="0">
                <a:solidFill>
                  <a:srgbClr val="8A0000"/>
                </a:solidFill>
                <a:latin typeface="Arial Black" panose="020B0A04020102020204" pitchFamily="34" charset="0"/>
                <a:ea typeface="+mj-ea"/>
                <a:cs typeface="Arial" panose="020B0604020202020204" pitchFamily="34" charset="0"/>
              </a:rPr>
              <a:t>R</a:t>
            </a:r>
            <a:r>
              <a:rPr lang="en-US" sz="3733" b="1" spc="-133" dirty="0">
                <a:solidFill>
                  <a:srgbClr val="8A0000"/>
                </a:solidFill>
                <a:latin typeface="Arial Black" panose="020B0A04020102020204" pitchFamily="34" charset="0"/>
                <a:ea typeface="+mj-ea"/>
                <a:cs typeface="Arial" panose="020B0604020202020204" pitchFamily="34" charset="0"/>
              </a:rPr>
              <a:t>eview</a:t>
            </a:r>
            <a:br>
              <a:rPr sz="1467" dirty="0">
                <a:latin typeface="Bebas Neue"/>
              </a:rPr>
            </a:br>
            <a:r>
              <a:rPr lang="en-US" sz="1467" dirty="0">
                <a:latin typeface="Bebas Neue"/>
              </a:rPr>
              <a:t>			</a:t>
            </a:r>
          </a:p>
          <a:p>
            <a:pPr algn="ctr">
              <a:lnSpc>
                <a:spcPct val="100000"/>
              </a:lnSpc>
            </a:pPr>
            <a:r>
              <a:rPr lang="en-GB" sz="3200" b="1" spc="-1" dirty="0">
                <a:solidFill>
                  <a:srgbClr val="572314"/>
                </a:solidFill>
                <a:latin typeface="Arial Narrow" panose="020B0606020202030204" pitchFamily="34" charset="0"/>
              </a:rPr>
              <a:t>AI-Based Decentralized Healthcare Appointment Scheduling with Intelligent Emergency Priority and Secure Identity Verification</a:t>
            </a:r>
            <a:endParaRPr lang="en-US" sz="3200" b="1" spc="-1" dirty="0">
              <a:solidFill>
                <a:srgbClr val="000000"/>
              </a:solidFill>
              <a:latin typeface="Arial Narrow" panose="020B0606020202030204" pitchFamily="34" charset="0"/>
            </a:endParaRPr>
          </a:p>
        </p:txBody>
      </p:sp>
      <p:sp>
        <p:nvSpPr>
          <p:cNvPr id="95" name="TextShape 2"/>
          <p:cNvSpPr txBox="1"/>
          <p:nvPr/>
        </p:nvSpPr>
        <p:spPr>
          <a:xfrm>
            <a:off x="5834728" y="2808341"/>
            <a:ext cx="3210843" cy="863640"/>
          </a:xfrm>
          <a:prstGeom prst="rect">
            <a:avLst/>
          </a:prstGeom>
          <a:noFill/>
          <a:ln>
            <a:noFill/>
          </a:ln>
        </p:spPr>
        <p:txBody>
          <a:bodyPr lIns="120000" tIns="0" rIns="120000" bIns="60000">
            <a:normAutofit fontScale="94000"/>
          </a:bodyPr>
          <a:lstStyle/>
          <a:p>
            <a:pPr algn="ctr">
              <a:lnSpc>
                <a:spcPct val="100000"/>
              </a:lnSpc>
            </a:pPr>
            <a:r>
              <a:rPr lang="en-IN" sz="2400" b="1" spc="-1" dirty="0">
                <a:solidFill>
                  <a:srgbClr val="FF0000"/>
                </a:solidFill>
                <a:latin typeface="Calibri" panose="020F0502020204030204" pitchFamily="34" charset="0"/>
                <a:ea typeface="Calibri" panose="020F0502020204030204" pitchFamily="34" charset="0"/>
                <a:cs typeface="Calibri" panose="020F0502020204030204" pitchFamily="34" charset="0"/>
              </a:rPr>
              <a:t>SDP ID:</a:t>
            </a:r>
            <a:endParaRPr lang="en-IN" sz="2400" spc="-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96" name="CustomShape 3"/>
          <p:cNvSpPr/>
          <p:nvPr/>
        </p:nvSpPr>
        <p:spPr>
          <a:xfrm>
            <a:off x="311259" y="2808341"/>
            <a:ext cx="4896544" cy="2994394"/>
          </a:xfrm>
          <a:prstGeom prst="rect">
            <a:avLst/>
          </a:prstGeom>
          <a:noFill/>
          <a:ln>
            <a:noFill/>
          </a:ln>
        </p:spPr>
        <p:style>
          <a:lnRef idx="0">
            <a:scrgbClr r="0" g="0" b="0"/>
          </a:lnRef>
          <a:fillRef idx="0">
            <a:scrgbClr r="0" g="0" b="0"/>
          </a:fillRef>
          <a:effectRef idx="0">
            <a:scrgbClr r="0" g="0" b="0"/>
          </a:effectRef>
          <a:fontRef idx="minor"/>
        </p:style>
        <p:txBody>
          <a:bodyPr wrap="square" lIns="120000" tIns="60000" rIns="120000" bIns="60000">
            <a:spAutoFit/>
          </a:bodyPr>
          <a:lstStyle/>
          <a:p>
            <a:r>
              <a:rPr lang="en-IN" sz="1867" b="1" spc="-1" dirty="0">
                <a:solidFill>
                  <a:srgbClr val="FF0000"/>
                </a:solidFill>
                <a:latin typeface="Calibri" panose="020F0502020204030204" pitchFamily="34" charset="0"/>
                <a:ea typeface="Calibri" panose="020F0502020204030204" pitchFamily="34" charset="0"/>
                <a:cs typeface="Calibri" panose="020F0502020204030204" pitchFamily="34" charset="0"/>
              </a:rPr>
              <a:t>Presented By:</a:t>
            </a:r>
            <a:endParaRPr lang="en-IN" sz="1867" spc="-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IN" sz="1867" b="1" spc="-1" dirty="0">
                <a:solidFill>
                  <a:srgbClr val="000000"/>
                </a:solidFill>
                <a:latin typeface="Calibri" panose="020F0502020204030204" pitchFamily="34" charset="0"/>
                <a:ea typeface="Calibri" panose="020F0502020204030204" pitchFamily="34" charset="0"/>
                <a:cs typeface="Calibri" panose="020F0502020204030204" pitchFamily="34" charset="0"/>
              </a:rPr>
              <a:t>Name of the Student(s) with Regd. No.:</a:t>
            </a:r>
            <a:endParaRPr lang="en-IN" sz="1867"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IN" sz="1867"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IN" sz="1867" spc="-1" dirty="0">
                <a:latin typeface="Calibri" panose="020F0502020204030204" pitchFamily="34" charset="0"/>
                <a:ea typeface="Calibri" panose="020F0502020204030204" pitchFamily="34" charset="0"/>
                <a:cs typeface="Calibri" panose="020F0502020204030204" pitchFamily="34" charset="0"/>
              </a:rPr>
              <a:t>Meghraj Umesh (22BCE7953)</a:t>
            </a:r>
          </a:p>
          <a:p>
            <a:pPr>
              <a:lnSpc>
                <a:spcPct val="100000"/>
              </a:lnSpc>
            </a:pPr>
            <a:r>
              <a:rPr lang="en-IN" sz="1867" spc="-1" dirty="0">
                <a:latin typeface="Calibri" panose="020F0502020204030204" pitchFamily="34" charset="0"/>
                <a:ea typeface="Calibri" panose="020F0502020204030204" pitchFamily="34" charset="0"/>
                <a:cs typeface="Calibri" panose="020F0502020204030204" pitchFamily="34" charset="0"/>
              </a:rPr>
              <a:t>Anirudh Baradwaj (22BCE8092)</a:t>
            </a:r>
          </a:p>
          <a:p>
            <a:pPr>
              <a:lnSpc>
                <a:spcPct val="100000"/>
              </a:lnSpc>
            </a:pPr>
            <a:r>
              <a:rPr lang="en-IN" sz="1867" spc="-1" dirty="0">
                <a:latin typeface="Calibri" panose="020F0502020204030204" pitchFamily="34" charset="0"/>
                <a:ea typeface="Calibri" panose="020F0502020204030204" pitchFamily="34" charset="0"/>
                <a:cs typeface="Calibri" panose="020F0502020204030204" pitchFamily="34" charset="0"/>
              </a:rPr>
              <a:t>M. Phani Pragnesh (22BCE9318)</a:t>
            </a:r>
          </a:p>
          <a:p>
            <a:pPr>
              <a:lnSpc>
                <a:spcPct val="100000"/>
              </a:lnSpc>
            </a:pPr>
            <a:endParaRPr lang="en-US" sz="1867"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US" sz="1867"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US" sz="1867"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IN" sz="1867" spc="-1" dirty="0">
              <a:latin typeface="Calibri" panose="020F0502020204030204" pitchFamily="34" charset="0"/>
              <a:ea typeface="Calibri" panose="020F0502020204030204" pitchFamily="34" charset="0"/>
              <a:cs typeface="Calibri" panose="020F0502020204030204" pitchFamily="34" charset="0"/>
            </a:endParaRPr>
          </a:p>
        </p:txBody>
      </p:sp>
      <p:sp>
        <p:nvSpPr>
          <p:cNvPr id="97" name="CustomShape 4"/>
          <p:cNvSpPr/>
          <p:nvPr/>
        </p:nvSpPr>
        <p:spPr>
          <a:xfrm>
            <a:off x="7440150" y="5585003"/>
            <a:ext cx="5163893" cy="1270269"/>
          </a:xfrm>
          <a:prstGeom prst="rect">
            <a:avLst/>
          </a:prstGeom>
          <a:noFill/>
          <a:ln>
            <a:noFill/>
          </a:ln>
        </p:spPr>
        <p:style>
          <a:lnRef idx="0">
            <a:scrgbClr r="0" g="0" b="0"/>
          </a:lnRef>
          <a:fillRef idx="0">
            <a:scrgbClr r="0" g="0" b="0"/>
          </a:fillRef>
          <a:effectRef idx="0">
            <a:scrgbClr r="0" g="0" b="0"/>
          </a:effectRef>
          <a:fontRef idx="minor"/>
        </p:style>
        <p:txBody>
          <a:bodyPr wrap="square" lIns="120000" tIns="60000" rIns="120000" bIns="60000">
            <a:spAutoFit/>
          </a:bodyPr>
          <a:lstStyle/>
          <a:p>
            <a:pPr algn="ctr">
              <a:lnSpc>
                <a:spcPct val="100000"/>
              </a:lnSpc>
            </a:pPr>
            <a:r>
              <a:rPr lang="en-IN" sz="2667" b="1" spc="-1" dirty="0">
                <a:solidFill>
                  <a:srgbClr val="FF0000"/>
                </a:solidFill>
                <a:latin typeface="Calibri" panose="020F0502020204030204" pitchFamily="34" charset="0"/>
                <a:ea typeface="Calibri" panose="020F0502020204030204" pitchFamily="34" charset="0"/>
                <a:cs typeface="Calibri" panose="020F0502020204030204" pitchFamily="34" charset="0"/>
              </a:rPr>
              <a:t>SCOPE</a:t>
            </a:r>
          </a:p>
          <a:p>
            <a:pPr algn="ctr">
              <a:lnSpc>
                <a:spcPct val="100000"/>
              </a:lnSpc>
            </a:pPr>
            <a:r>
              <a:rPr lang="en-IN" sz="2400" b="1" spc="-1" dirty="0">
                <a:solidFill>
                  <a:srgbClr val="000000"/>
                </a:solidFill>
                <a:latin typeface="Calibri" panose="020F0502020204030204" pitchFamily="34" charset="0"/>
                <a:ea typeface="Calibri" panose="020F0502020204030204" pitchFamily="34" charset="0"/>
                <a:cs typeface="Calibri" panose="020F0502020204030204" pitchFamily="34" charset="0"/>
              </a:rPr>
              <a:t>VIT-AP University,</a:t>
            </a:r>
          </a:p>
          <a:p>
            <a:pPr algn="ctr">
              <a:lnSpc>
                <a:spcPct val="100000"/>
              </a:lnSpc>
            </a:pPr>
            <a:r>
              <a:rPr lang="en-IN" sz="2400" b="1" spc="-1" dirty="0">
                <a:solidFill>
                  <a:srgbClr val="000000"/>
                </a:solidFill>
                <a:latin typeface="Calibri" panose="020F0502020204030204" pitchFamily="34" charset="0"/>
                <a:ea typeface="Calibri" panose="020F0502020204030204" pitchFamily="34" charset="0"/>
                <a:cs typeface="Calibri" panose="020F0502020204030204" pitchFamily="34" charset="0"/>
              </a:rPr>
              <a:t>Amravati, India</a:t>
            </a:r>
            <a:endParaRPr lang="en-IN" sz="2133" spc="-1" dirty="0">
              <a:latin typeface="Calibri" panose="020F0502020204030204" pitchFamily="34" charset="0"/>
              <a:ea typeface="Calibri" panose="020F0502020204030204" pitchFamily="34" charset="0"/>
              <a:cs typeface="Calibri" panose="020F0502020204030204" pitchFamily="34" charset="0"/>
            </a:endParaRPr>
          </a:p>
        </p:txBody>
      </p:sp>
      <p:sp>
        <p:nvSpPr>
          <p:cNvPr id="98" name="TextShape 5"/>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F277BE30-6CD2-45EB-896E-478D60EBC98C}" type="slidenum">
              <a:rPr lang="en-IN" sz="1600" spc="-1">
                <a:solidFill>
                  <a:srgbClr val="B5A989"/>
                </a:solidFill>
                <a:latin typeface="Gill Sans MT"/>
              </a:rPr>
              <a:pPr algn="ctr">
                <a:lnSpc>
                  <a:spcPct val="100000"/>
                </a:lnSpc>
              </a:pPr>
              <a:t>1</a:t>
            </a:fld>
            <a:endParaRPr lang="en-IN" sz="1600" spc="-1">
              <a:latin typeface="Times New Roman"/>
            </a:endParaRPr>
          </a:p>
        </p:txBody>
      </p:sp>
      <p:sp>
        <p:nvSpPr>
          <p:cNvPr id="99" name="CustomShape 6"/>
          <p:cNvSpPr/>
          <p:nvPr/>
        </p:nvSpPr>
        <p:spPr>
          <a:xfrm>
            <a:off x="207360" y="-144360"/>
            <a:ext cx="406080" cy="304560"/>
          </a:xfrm>
          <a:prstGeom prst="rect">
            <a:avLst/>
          </a:prstGeom>
          <a:noFill/>
          <a:ln>
            <a:noFill/>
          </a:ln>
        </p:spPr>
        <p:style>
          <a:lnRef idx="0">
            <a:scrgbClr r="0" g="0" b="0"/>
          </a:lnRef>
          <a:fillRef idx="0">
            <a:scrgbClr r="0" g="0" b="0"/>
          </a:fillRef>
          <a:effectRef idx="0">
            <a:scrgbClr r="0" g="0" b="0"/>
          </a:effectRef>
          <a:fontRef idx="minor"/>
        </p:style>
      </p:sp>
      <p:pic>
        <p:nvPicPr>
          <p:cNvPr id="3" name="Picture 2">
            <a:extLst>
              <a:ext uri="{FF2B5EF4-FFF2-40B4-BE49-F238E27FC236}">
                <a16:creationId xmlns:a16="http://schemas.microsoft.com/office/drawing/2014/main" id="{B860FE66-D837-8A32-CA26-C63B350C9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704" y="76681"/>
            <a:ext cx="2035376" cy="516641"/>
          </a:xfrm>
          <a:prstGeom prst="rect">
            <a:avLst/>
          </a:prstGeom>
        </p:spPr>
      </p:pic>
      <p:sp>
        <p:nvSpPr>
          <p:cNvPr id="4" name="TextBox 3">
            <a:extLst>
              <a:ext uri="{FF2B5EF4-FFF2-40B4-BE49-F238E27FC236}">
                <a16:creationId xmlns:a16="http://schemas.microsoft.com/office/drawing/2014/main" id="{BA1699F9-B3AB-0389-3EBF-50A6BDEA3B3B}"/>
              </a:ext>
            </a:extLst>
          </p:cNvPr>
          <p:cNvSpPr txBox="1"/>
          <p:nvPr/>
        </p:nvSpPr>
        <p:spPr>
          <a:xfrm>
            <a:off x="311259" y="5400337"/>
            <a:ext cx="6300216" cy="369332"/>
          </a:xfrm>
          <a:prstGeom prst="rect">
            <a:avLst/>
          </a:prstGeom>
          <a:noFill/>
        </p:spPr>
        <p:txBody>
          <a:bodyPr wrap="square">
            <a:spAutoFit/>
          </a:bodyPr>
          <a:lstStyle/>
          <a:p>
            <a:r>
              <a:rPr lang="en-IN" b="1" spc="-1" dirty="0">
                <a:solidFill>
                  <a:srgbClr val="FF0000"/>
                </a:solidFill>
                <a:latin typeface="Calibri" panose="020F0502020204030204" pitchFamily="34" charset="0"/>
                <a:ea typeface="Calibri" panose="020F0502020204030204" pitchFamily="34" charset="0"/>
                <a:cs typeface="Calibri" panose="020F0502020204030204" pitchFamily="34" charset="0"/>
              </a:rPr>
              <a:t>Mentor: </a:t>
            </a:r>
            <a:r>
              <a:rPr lang="en-IN" b="1" spc="-1" dirty="0">
                <a:latin typeface="Calibri" panose="020F0502020204030204" pitchFamily="34" charset="0"/>
                <a:ea typeface="Calibri" panose="020F0502020204030204" pitchFamily="34" charset="0"/>
                <a:cs typeface="Calibri" panose="020F0502020204030204" pitchFamily="34" charset="0"/>
              </a:rPr>
              <a:t>Dr. Anil Vithalrao Turukumane</a:t>
            </a:r>
            <a:endParaRPr lang="en-IN" sz="1800" spc="-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62926D2-6C70-E617-49C5-83355E97EB5E}"/>
              </a:ext>
            </a:extLst>
          </p:cNvPr>
          <p:cNvSpPr txBox="1"/>
          <p:nvPr/>
        </p:nvSpPr>
        <p:spPr>
          <a:xfrm>
            <a:off x="7905135" y="2767673"/>
            <a:ext cx="1681316" cy="738664"/>
          </a:xfrm>
          <a:prstGeom prst="rect">
            <a:avLst/>
          </a:prstGeom>
          <a:noFill/>
        </p:spPr>
        <p:txBody>
          <a:bodyPr wrap="square" rtlCol="0">
            <a:spAutoFit/>
          </a:bodyPr>
          <a:lstStyle/>
          <a:p>
            <a:r>
              <a:rPr lang="en-US" sz="2400" dirty="0"/>
              <a:t>20251471</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Shape 1"/>
          <p:cNvSpPr txBox="1"/>
          <p:nvPr/>
        </p:nvSpPr>
        <p:spPr>
          <a:xfrm>
            <a:off x="205574" y="233053"/>
            <a:ext cx="11149237" cy="1142640"/>
          </a:xfrm>
          <a:prstGeom prst="rect">
            <a:avLst/>
          </a:prstGeom>
          <a:noFill/>
          <a:ln>
            <a:noFill/>
          </a:ln>
        </p:spPr>
        <p:txBody>
          <a:bodyPr lIns="120000" tIns="60000" rIns="120000" bIns="60000" anchor="ctr">
            <a:normAutofit fontScale="81500" lnSpcReduction="20000"/>
          </a:bodyPr>
          <a:lstStyle/>
          <a:p>
            <a:pPr>
              <a:lnSpc>
                <a:spcPct val="100000"/>
              </a:lnSpc>
            </a:pPr>
            <a:r>
              <a:rPr lang="en-US" sz="4267" b="1" spc="-1" dirty="0">
                <a:solidFill>
                  <a:srgbClr val="8A0000"/>
                </a:solidFill>
                <a:latin typeface="Calibri" panose="020F0502020204030204" pitchFamily="34" charset="0"/>
                <a:ea typeface="Calibri" panose="020F0502020204030204" pitchFamily="34" charset="0"/>
                <a:cs typeface="Calibri" panose="020F0502020204030204" pitchFamily="34" charset="0"/>
              </a:rPr>
              <a:t>Presentation</a:t>
            </a:r>
            <a:r>
              <a:rPr lang="en-US" sz="4267" b="1" spc="-1" dirty="0">
                <a:solidFill>
                  <a:srgbClr val="8A0000"/>
                </a:solidFill>
                <a:latin typeface="Times New Roman" pitchFamily="18" charset="0"/>
                <a:cs typeface="Times New Roman" pitchFamily="18" charset="0"/>
              </a:rPr>
              <a:t> Outline</a:t>
            </a:r>
            <a:br>
              <a:rPr sz="2400" dirty="0">
                <a:latin typeface="Times New Roman" pitchFamily="18" charset="0"/>
                <a:cs typeface="Times New Roman" pitchFamily="18" charset="0"/>
              </a:rPr>
            </a:br>
            <a:endParaRPr lang="en-US" sz="5733" spc="-1" dirty="0">
              <a:solidFill>
                <a:srgbClr val="000000"/>
              </a:solidFill>
              <a:latin typeface="Times New Roman" pitchFamily="18" charset="0"/>
              <a:cs typeface="Times New Roman" pitchFamily="18" charset="0"/>
            </a:endParaRPr>
          </a:p>
        </p:txBody>
      </p:sp>
      <p:sp>
        <p:nvSpPr>
          <p:cNvPr id="102" name="TextShape 2"/>
          <p:cNvSpPr txBox="1"/>
          <p:nvPr/>
        </p:nvSpPr>
        <p:spPr>
          <a:xfrm>
            <a:off x="479957" y="804373"/>
            <a:ext cx="11339739" cy="5740120"/>
          </a:xfrm>
          <a:prstGeom prst="rect">
            <a:avLst/>
          </a:prstGeom>
          <a:noFill/>
          <a:ln>
            <a:noFill/>
          </a:ln>
        </p:spPr>
        <p:txBody>
          <a:bodyPr lIns="120000" tIns="60000" rIns="120000" bIns="60000">
            <a:noAutofit/>
          </a:bodyPr>
          <a:lstStyle/>
          <a:p>
            <a:pPr marL="491388" indent="-380990">
              <a:spcBef>
                <a:spcPts val="801"/>
              </a:spcBef>
              <a:buClr>
                <a:srgbClr val="C00000"/>
              </a:buClr>
              <a:buSzPct val="80000"/>
              <a:buFont typeface="Wingdings" panose="05000000000000000000" pitchFamily="2" charset="2"/>
              <a:buChar char="q"/>
            </a:pPr>
            <a:r>
              <a:rPr lang="en-US" sz="2133" spc="-1" dirty="0">
                <a:latin typeface="Calibri" panose="020F0502020204030204" pitchFamily="34" charset="0"/>
                <a:ea typeface="Calibri" panose="020F0502020204030204" pitchFamily="34" charset="0"/>
                <a:cs typeface="Calibri" panose="020F0502020204030204" pitchFamily="34" charset="0"/>
              </a:rPr>
              <a:t>Introduction</a:t>
            </a:r>
          </a:p>
          <a:p>
            <a:pPr marL="1100972" lvl="1" indent="-380990">
              <a:spcBef>
                <a:spcPts val="801"/>
              </a:spcBef>
              <a:buClr>
                <a:srgbClr val="C00000"/>
              </a:buClr>
              <a:buSzPct val="80000"/>
              <a:buFont typeface="Arial" panose="020B0604020202020204" pitchFamily="34" charset="0"/>
              <a:buChar char="•"/>
            </a:pPr>
            <a:r>
              <a:rPr lang="en-US" sz="1867" spc="-1" dirty="0">
                <a:latin typeface="Calibri" panose="020F0502020204030204" pitchFamily="34" charset="0"/>
                <a:ea typeface="Calibri" panose="020F0502020204030204" pitchFamily="34" charset="0"/>
                <a:cs typeface="Calibri" panose="020F0502020204030204" pitchFamily="34" charset="0"/>
              </a:rPr>
              <a:t>Project Overview and Problem Statement</a:t>
            </a:r>
          </a:p>
          <a:p>
            <a:pPr marL="1100972" lvl="1" indent="-380990">
              <a:spcBef>
                <a:spcPts val="801"/>
              </a:spcBef>
              <a:buClr>
                <a:srgbClr val="C00000"/>
              </a:buClr>
              <a:buSzPct val="80000"/>
              <a:buFont typeface="Arial" panose="020B0604020202020204" pitchFamily="34" charset="0"/>
              <a:buChar char="•"/>
            </a:pPr>
            <a:r>
              <a:rPr lang="en-US" sz="1867" spc="-1" dirty="0">
                <a:latin typeface="Calibri" panose="020F0502020204030204" pitchFamily="34" charset="0"/>
                <a:ea typeface="Calibri" panose="020F0502020204030204" pitchFamily="34" charset="0"/>
                <a:cs typeface="Calibri" panose="020F0502020204030204" pitchFamily="34" charset="0"/>
              </a:rPr>
              <a:t>Motivations </a:t>
            </a:r>
          </a:p>
          <a:p>
            <a:pPr marL="491388" indent="-380990">
              <a:spcBef>
                <a:spcPts val="801"/>
              </a:spcBef>
              <a:buClr>
                <a:srgbClr val="C00000"/>
              </a:buClr>
              <a:buSzPct val="80000"/>
              <a:buFont typeface="Wingdings" panose="05000000000000000000" pitchFamily="2" charset="2"/>
              <a:buChar char="q"/>
            </a:pPr>
            <a:r>
              <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rPr>
              <a:t>Background &amp; Related Work/ Literature Review</a:t>
            </a:r>
          </a:p>
          <a:p>
            <a:pPr marL="1100972" lvl="1" indent="-380990">
              <a:spcBef>
                <a:spcPts val="801"/>
              </a:spcBef>
              <a:buClr>
                <a:srgbClr val="C00000"/>
              </a:buClr>
              <a:buSzPct val="80000"/>
              <a:buFont typeface="Arial" panose="020B0604020202020204" pitchFamily="34" charset="0"/>
              <a:buChar char="•"/>
            </a:pPr>
            <a:r>
              <a:rPr lang="en-US" sz="1867" spc="-1" dirty="0">
                <a:solidFill>
                  <a:srgbClr val="000000"/>
                </a:solidFill>
                <a:latin typeface="Calibri" panose="020F0502020204030204" pitchFamily="34" charset="0"/>
                <a:ea typeface="Calibri" panose="020F0502020204030204" pitchFamily="34" charset="0"/>
                <a:cs typeface="Calibri" panose="020F0502020204030204" pitchFamily="34" charset="0"/>
              </a:rPr>
              <a:t>Existing Solutions / Literature Survey </a:t>
            </a:r>
          </a:p>
          <a:p>
            <a:pPr marL="1100972" lvl="1" indent="-380990">
              <a:spcBef>
                <a:spcPts val="801"/>
              </a:spcBef>
              <a:buClr>
                <a:srgbClr val="C00000"/>
              </a:buClr>
              <a:buSzPct val="80000"/>
              <a:buFont typeface="Arial" panose="020B0604020202020204" pitchFamily="34" charset="0"/>
              <a:buChar char="•"/>
            </a:pPr>
            <a:r>
              <a:rPr lang="en-US" sz="1867" spc="-1" dirty="0">
                <a:solidFill>
                  <a:srgbClr val="000000"/>
                </a:solidFill>
                <a:latin typeface="Calibri" panose="020F0502020204030204" pitchFamily="34" charset="0"/>
                <a:ea typeface="Calibri" panose="020F0502020204030204" pitchFamily="34" charset="0"/>
                <a:cs typeface="Calibri" panose="020F0502020204030204" pitchFamily="34" charset="0"/>
              </a:rPr>
              <a:t>Gaps Identified / Improvements Over Existing Solutions</a:t>
            </a:r>
            <a:endPar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91388" indent="-380990">
              <a:spcBef>
                <a:spcPts val="801"/>
              </a:spcBef>
              <a:buClr>
                <a:srgbClr val="C00000"/>
              </a:buClr>
              <a:buSzPct val="80000"/>
              <a:buFont typeface="Wingdings" panose="05000000000000000000" pitchFamily="2" charset="2"/>
              <a:buChar char="q"/>
            </a:pPr>
            <a:r>
              <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rPr>
              <a:t>Project Objectives</a:t>
            </a:r>
          </a:p>
          <a:p>
            <a:pPr marL="491388" indent="-380990">
              <a:spcBef>
                <a:spcPts val="801"/>
              </a:spcBef>
              <a:buClr>
                <a:srgbClr val="C00000"/>
              </a:buClr>
              <a:buSzPct val="80000"/>
              <a:buFont typeface="Wingdings" panose="05000000000000000000" pitchFamily="2" charset="2"/>
              <a:buChar char="q"/>
            </a:pPr>
            <a:r>
              <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rPr>
              <a:t>Proposed Solution </a:t>
            </a:r>
          </a:p>
          <a:p>
            <a:pPr marL="1100972" lvl="1" indent="-380990">
              <a:spcBef>
                <a:spcPts val="801"/>
              </a:spcBef>
              <a:buClr>
                <a:srgbClr val="C00000"/>
              </a:buClr>
              <a:buSzPct val="80000"/>
              <a:buFont typeface="Arial" panose="020B0604020202020204" pitchFamily="34" charset="0"/>
              <a:buChar char="•"/>
            </a:pPr>
            <a:r>
              <a:rPr lang="en-US" sz="1867" spc="-1" dirty="0">
                <a:solidFill>
                  <a:srgbClr val="000000"/>
                </a:solidFill>
                <a:latin typeface="Calibri" panose="020F0502020204030204" pitchFamily="34" charset="0"/>
                <a:ea typeface="Calibri" panose="020F0502020204030204" pitchFamily="34" charset="0"/>
                <a:cs typeface="Calibri" panose="020F0502020204030204" pitchFamily="34" charset="0"/>
              </a:rPr>
              <a:t>System Architecture /Workflow Diagram /Model Diagram /Block Diagram/UML diagrams</a:t>
            </a:r>
          </a:p>
          <a:p>
            <a:pPr marL="1100972" lvl="1" indent="-380990">
              <a:spcBef>
                <a:spcPts val="801"/>
              </a:spcBef>
              <a:buClr>
                <a:srgbClr val="C00000"/>
              </a:buClr>
              <a:buSzPct val="80000"/>
              <a:buFont typeface="Arial" panose="020B0604020202020204" pitchFamily="34" charset="0"/>
              <a:buChar char="•"/>
            </a:pPr>
            <a:r>
              <a:rPr lang="en-US" sz="1867" spc="-1" dirty="0">
                <a:solidFill>
                  <a:srgbClr val="000000"/>
                </a:solidFill>
                <a:latin typeface="Calibri" panose="020F0502020204030204" pitchFamily="34" charset="0"/>
                <a:ea typeface="Calibri" panose="020F0502020204030204" pitchFamily="34" charset="0"/>
                <a:cs typeface="Calibri" panose="020F0502020204030204" pitchFamily="34" charset="0"/>
              </a:rPr>
              <a:t>Key Components/Features/Modules</a:t>
            </a:r>
          </a:p>
          <a:p>
            <a:pPr marL="1100972" lvl="1" indent="-380990">
              <a:spcBef>
                <a:spcPts val="801"/>
              </a:spcBef>
              <a:buClr>
                <a:srgbClr val="C00000"/>
              </a:buClr>
              <a:buSzPct val="80000"/>
              <a:buFont typeface="Arial" panose="020B0604020202020204" pitchFamily="34" charset="0"/>
              <a:buChar char="•"/>
            </a:pPr>
            <a:r>
              <a:rPr lang="en-US" sz="1867" spc="-1" dirty="0">
                <a:solidFill>
                  <a:srgbClr val="000000"/>
                </a:solidFill>
                <a:latin typeface="Calibri" panose="020F0502020204030204" pitchFamily="34" charset="0"/>
                <a:ea typeface="Calibri" panose="020F0502020204030204" pitchFamily="34" charset="0"/>
                <a:cs typeface="Calibri" panose="020F0502020204030204" pitchFamily="34" charset="0"/>
              </a:rPr>
              <a:t>Algorithms Used/Technologies, Frameworks, and Tools Used</a:t>
            </a:r>
          </a:p>
          <a:p>
            <a:pPr marL="491388" indent="-380990">
              <a:spcBef>
                <a:spcPts val="801"/>
              </a:spcBef>
              <a:buClr>
                <a:srgbClr val="C00000"/>
              </a:buClr>
              <a:buSzPct val="80000"/>
              <a:buFont typeface="Wingdings" panose="05000000000000000000" pitchFamily="2" charset="2"/>
              <a:buChar char="q"/>
            </a:pPr>
            <a:r>
              <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rPr>
              <a:t>Simulation and Results </a:t>
            </a:r>
          </a:p>
          <a:p>
            <a:pPr marL="491388" indent="-380990">
              <a:spcBef>
                <a:spcPts val="801"/>
              </a:spcBef>
              <a:buClr>
                <a:srgbClr val="C00000"/>
              </a:buClr>
              <a:buSzPct val="80000"/>
              <a:buFont typeface="Wingdings" panose="05000000000000000000" pitchFamily="2" charset="2"/>
              <a:buChar char="q"/>
            </a:pPr>
            <a:r>
              <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rPr>
              <a:t>Summary ( Findings, Limitations, Future Directions )</a:t>
            </a:r>
          </a:p>
          <a:p>
            <a:pPr marL="491388" lvl="1" indent="-380990">
              <a:spcBef>
                <a:spcPts val="801"/>
              </a:spcBef>
              <a:buClr>
                <a:srgbClr val="C00000"/>
              </a:buClr>
              <a:buSzPct val="80000"/>
              <a:buFont typeface="Wingdings" panose="05000000000000000000" pitchFamily="2" charset="2"/>
              <a:buChar char="q"/>
            </a:pPr>
            <a:r>
              <a:rPr lang="en-IN" sz="2133" spc="-1" dirty="0">
                <a:solidFill>
                  <a:srgbClr val="000000"/>
                </a:solidFill>
                <a:latin typeface="Calibri" panose="020F0502020204030204" pitchFamily="34" charset="0"/>
                <a:ea typeface="Calibri" panose="020F0502020204030204" pitchFamily="34" charset="0"/>
                <a:cs typeface="Calibri" panose="020F0502020204030204" pitchFamily="34" charset="0"/>
              </a:rPr>
              <a:t>References</a:t>
            </a:r>
            <a:endParaRPr lang="en-US" sz="2133"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03" name="TextShape 3"/>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98A15F4-BA1A-4DF0-8C36-812FE3A649CD}" type="slidenum">
              <a:rPr lang="en-IN" sz="1600" spc="-1">
                <a:solidFill>
                  <a:srgbClr val="B5A989"/>
                </a:solidFill>
                <a:latin typeface="Gill Sans MT"/>
              </a:rPr>
              <a:pPr algn="ctr">
                <a:lnSpc>
                  <a:spcPct val="100000"/>
                </a:lnSpc>
              </a:pPr>
              <a:t>2</a:t>
            </a:fld>
            <a:endParaRPr lang="en-IN" sz="1600" spc="-1">
              <a:latin typeface="Times New Roman"/>
            </a:endParaRPr>
          </a:p>
        </p:txBody>
      </p:sp>
      <p:pic>
        <p:nvPicPr>
          <p:cNvPr id="3" name="Picture 2">
            <a:extLst>
              <a:ext uri="{FF2B5EF4-FFF2-40B4-BE49-F238E27FC236}">
                <a16:creationId xmlns:a16="http://schemas.microsoft.com/office/drawing/2014/main" id="{49465B10-025F-38FB-D40D-A8B640C930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143339" y="-123395"/>
            <a:ext cx="11149237" cy="1142640"/>
          </a:xfrm>
          <a:prstGeom prst="rect">
            <a:avLst/>
          </a:prstGeom>
          <a:noFill/>
          <a:ln>
            <a:noFill/>
          </a:ln>
        </p:spPr>
        <p:txBody>
          <a:bodyPr lIns="120000" tIns="60000" rIns="120000" bIns="60000" anchor="ctr">
            <a:noAutofit/>
          </a:bodyPr>
          <a:lstStyle/>
          <a:p>
            <a:pPr>
              <a:lnSpc>
                <a:spcPct val="100000"/>
              </a:lnSpc>
            </a:pPr>
            <a:r>
              <a:rPr lang="en-US" sz="3200" b="1" spc="-1" dirty="0">
                <a:solidFill>
                  <a:srgbClr val="8A0000"/>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106" name="TextShape 2"/>
          <p:cNvSpPr txBox="1"/>
          <p:nvPr/>
        </p:nvSpPr>
        <p:spPr>
          <a:xfrm>
            <a:off x="239349" y="836712"/>
            <a:ext cx="11339739" cy="480024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Project Overview</a:t>
            </a:r>
          </a:p>
          <a:p>
            <a:pPr>
              <a:spcBef>
                <a:spcPts val="733"/>
              </a:spcBef>
              <a:buClr>
                <a:srgbClr val="C00000"/>
              </a:buClr>
            </a:pPr>
            <a:r>
              <a:rPr lang="en-GB" sz="2000" spc="-1" dirty="0">
                <a:solidFill>
                  <a:srgbClr val="000000"/>
                </a:solidFill>
                <a:latin typeface="Calibri" panose="020F0502020204030204" pitchFamily="34" charset="0"/>
                <a:ea typeface="Calibri" panose="020F0502020204030204" pitchFamily="34" charset="0"/>
                <a:cs typeface="Calibri" panose="020F0502020204030204" pitchFamily="34" charset="0"/>
              </a:rPr>
              <a:t>Though the modern healthcare systems have adopted digital infrastructures, appointment scheduling still continues to be quite unoptimized. Most existing healthcare appointment scheduling platforms have a centralized architecture which is plagued by scalability and adaptability issues.</a:t>
            </a:r>
          </a:p>
          <a:p>
            <a:pPr>
              <a:spcBef>
                <a:spcPts val="733"/>
              </a:spcBef>
              <a:buClr>
                <a:srgbClr val="C00000"/>
              </a:buClr>
            </a:pPr>
            <a:r>
              <a:rPr lang="en-GB" sz="2000" spc="-1" dirty="0">
                <a:solidFill>
                  <a:srgbClr val="000000"/>
                </a:solidFill>
                <a:latin typeface="Calibri" panose="020F0502020204030204" pitchFamily="34" charset="0"/>
                <a:ea typeface="Calibri" panose="020F0502020204030204" pitchFamily="34" charset="0"/>
                <a:cs typeface="Calibri" panose="020F0502020204030204" pitchFamily="34" charset="0"/>
              </a:rPr>
              <a:t>Our proposed project aims at providing a decentralized AI-based scheduling system capable of optimizing appointment allocation, intelligent emergency scheduling, securing patient identity, and automation for improved user experience.</a:t>
            </a:r>
            <a:endParaRPr lang="en-US" sz="20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Bef>
                <a:spcPts val="733"/>
              </a:spcBef>
              <a:buClr>
                <a:srgbClr val="C00000"/>
              </a:buClr>
            </a:pPr>
            <a:endPar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Bef>
                <a:spcPts val="733"/>
              </a:spcBef>
              <a:buClr>
                <a:srgbClr val="C00000"/>
              </a:buClr>
            </a:pPr>
            <a:endPar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Problem Statement</a:t>
            </a:r>
          </a:p>
          <a:p>
            <a:pPr>
              <a:spcBef>
                <a:spcPts val="733"/>
              </a:spcBef>
              <a:buClr>
                <a:srgbClr val="C00000"/>
              </a:buClr>
            </a:pPr>
            <a:r>
              <a:rPr lang="en-GB" sz="2000" spc="-1" dirty="0">
                <a:solidFill>
                  <a:srgbClr val="000000"/>
                </a:solidFill>
                <a:latin typeface="Calibri" panose="020F0502020204030204" pitchFamily="34" charset="0"/>
                <a:ea typeface="Calibri" panose="020F0502020204030204" pitchFamily="34" charset="0"/>
                <a:cs typeface="Calibri" panose="020F0502020204030204" pitchFamily="34" charset="0"/>
              </a:rPr>
              <a:t>The current appointment scheduling platforms have several shortcomings such as appointment scheduling conflicts and overselling, a lack of real-time emergency priority, low utilization rate of doctors' availability, vulnerability to malicious data manipulation and breach of security, and dependency on manual administrative tasks. All of the above problems can cause long waiting lines, poor quality of medical service, and operational inefficiency.</a:t>
            </a:r>
            <a:endParaRPr lang="en-US" sz="20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3733" b="1" spc="-1" dirty="0">
              <a:solidFill>
                <a:srgbClr val="000000"/>
              </a:solidFill>
              <a:latin typeface="Gill Sans MT"/>
            </a:endParaRPr>
          </a:p>
          <a:p>
            <a:endParaRPr lang="en-US" sz="3733" b="1" spc="-1" dirty="0">
              <a:solidFill>
                <a:srgbClr val="000000"/>
              </a:solidFill>
              <a:latin typeface="Gill Sans MT"/>
            </a:endParaRPr>
          </a:p>
          <a:p>
            <a:endParaRPr lang="en-US" sz="3733" b="1" spc="-1" dirty="0">
              <a:solidFill>
                <a:srgbClr val="000000"/>
              </a:solidFill>
              <a:latin typeface="Gill Sans MT"/>
            </a:endParaRPr>
          </a:p>
          <a:p>
            <a:pPr marL="536627">
              <a:spcBef>
                <a:spcPts val="733"/>
              </a:spcBef>
            </a:pPr>
            <a:endParaRPr lang="en-US" sz="3733" b="1" spc="-1" dirty="0">
              <a:solidFill>
                <a:srgbClr val="000000"/>
              </a:solidFill>
              <a:latin typeface="Gill Sans MT"/>
            </a:endParaRPr>
          </a:p>
          <a:p>
            <a:pPr>
              <a:spcBef>
                <a:spcPts val="801"/>
              </a:spcBef>
            </a:pPr>
            <a:endParaRPr lang="en-US" sz="3733" b="1" spc="-1" dirty="0">
              <a:solidFill>
                <a:srgbClr val="000000"/>
              </a:solidFill>
              <a:latin typeface="Gill Sans MT"/>
            </a:endParaRPr>
          </a:p>
        </p:txBody>
      </p:sp>
      <p:sp>
        <p:nvSpPr>
          <p:cNvPr id="107" name="TextShape 3"/>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6524399E-7446-4F74-B823-A4CC295C522F}" type="slidenum">
              <a:rPr lang="en-IN" sz="1600" spc="-1">
                <a:solidFill>
                  <a:srgbClr val="B5A989"/>
                </a:solidFill>
                <a:latin typeface="Gill Sans MT"/>
              </a:rPr>
              <a:pPr algn="ctr">
                <a:lnSpc>
                  <a:spcPct val="100000"/>
                </a:lnSpc>
              </a:pPr>
              <a:t>3</a:t>
            </a:fld>
            <a:endParaRPr lang="en-IN" sz="1600" spc="-1">
              <a:latin typeface="Times New Roman"/>
            </a:endParaRPr>
          </a:p>
        </p:txBody>
      </p:sp>
      <p:pic>
        <p:nvPicPr>
          <p:cNvPr id="3" name="Picture 2">
            <a:extLst>
              <a:ext uri="{FF2B5EF4-FFF2-40B4-BE49-F238E27FC236}">
                <a16:creationId xmlns:a16="http://schemas.microsoft.com/office/drawing/2014/main" id="{E4778CB6-DE7A-C21F-2E51-769B34EEC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124187" y="-152800"/>
            <a:ext cx="11149237" cy="1142640"/>
          </a:xfrm>
          <a:prstGeom prst="rect">
            <a:avLst/>
          </a:prstGeom>
          <a:noFill/>
          <a:ln>
            <a:noFill/>
          </a:ln>
        </p:spPr>
        <p:txBody>
          <a:bodyPr lIns="120000" tIns="60000" rIns="120000" bIns="60000" anchor="ctr">
            <a:noAutofit/>
          </a:bodyPr>
          <a:lstStyle/>
          <a:p>
            <a:pPr>
              <a:lnSpc>
                <a:spcPct val="100000"/>
              </a:lnSpc>
            </a:pPr>
            <a:r>
              <a:rPr lang="en-US" sz="3200" b="1" spc="-1" dirty="0">
                <a:solidFill>
                  <a:srgbClr val="8A0000"/>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106" name="TextShape 2"/>
          <p:cNvSpPr txBox="1"/>
          <p:nvPr/>
        </p:nvSpPr>
        <p:spPr>
          <a:xfrm>
            <a:off x="145221" y="836712"/>
            <a:ext cx="11339739" cy="480024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Motivations</a:t>
            </a:r>
          </a:p>
          <a:p>
            <a:r>
              <a:rPr lang="en-GB" sz="2800" spc="-1" dirty="0">
                <a:solidFill>
                  <a:srgbClr val="000000"/>
                </a:solidFill>
                <a:latin typeface="Gill Sans MT"/>
              </a:rPr>
              <a:t>There are three interrelated motivations for conducting the research on this particular topic :</a:t>
            </a:r>
          </a:p>
          <a:p>
            <a:pPr marL="457200" indent="-457200">
              <a:buFont typeface="Arial" panose="020B0604020202020204" pitchFamily="34" charset="0"/>
              <a:buChar char="•"/>
            </a:pPr>
            <a:r>
              <a:rPr lang="en-GB" sz="2800" spc="-1" dirty="0">
                <a:solidFill>
                  <a:srgbClr val="000000"/>
                </a:solidFill>
                <a:latin typeface="Gill Sans MT"/>
              </a:rPr>
              <a:t>The need to improve the efficiency of healthcare operations due to current problems with the systems;</a:t>
            </a:r>
          </a:p>
          <a:p>
            <a:pPr marL="457200" indent="-457200">
              <a:buFont typeface="Arial" panose="020B0604020202020204" pitchFamily="34" charset="0"/>
              <a:buChar char="•"/>
            </a:pPr>
            <a:r>
              <a:rPr lang="en-GB" sz="2800" spc="-1" dirty="0">
                <a:solidFill>
                  <a:srgbClr val="000000"/>
                </a:solidFill>
                <a:latin typeface="Gill Sans MT"/>
              </a:rPr>
              <a:t>The need to provide a higher level of security for the healthcare data; </a:t>
            </a:r>
          </a:p>
          <a:p>
            <a:pPr marL="457200" indent="-457200">
              <a:buFont typeface="Arial" panose="020B0604020202020204" pitchFamily="34" charset="0"/>
              <a:buChar char="•"/>
            </a:pPr>
            <a:r>
              <a:rPr lang="en-GB" sz="2800" spc="-1" dirty="0">
                <a:solidFill>
                  <a:srgbClr val="000000"/>
                </a:solidFill>
                <a:latin typeface="Gill Sans MT"/>
              </a:rPr>
              <a:t>The need to ensure the proper management of the clinical urgency of patients' appointments.</a:t>
            </a:r>
          </a:p>
          <a:p>
            <a:endParaRPr lang="en-GB" sz="2800" spc="-1" dirty="0">
              <a:solidFill>
                <a:srgbClr val="000000"/>
              </a:solidFill>
              <a:latin typeface="Gill Sans MT"/>
            </a:endParaRPr>
          </a:p>
          <a:p>
            <a:r>
              <a:rPr lang="en-GB" sz="2800" spc="-1" dirty="0">
                <a:solidFill>
                  <a:srgbClr val="000000"/>
                </a:solidFill>
                <a:latin typeface="Gill Sans MT"/>
              </a:rPr>
              <a:t>Thus, we want to develop a more intelligent scheduling system based on artificial intelligence and machine learning approaches.</a:t>
            </a:r>
            <a:endParaRPr lang="en-US" sz="2800" spc="-1" dirty="0">
              <a:solidFill>
                <a:srgbClr val="000000"/>
              </a:solidFill>
              <a:latin typeface="Gill Sans MT"/>
            </a:endParaRPr>
          </a:p>
          <a:p>
            <a:endParaRPr lang="en-US" sz="3733" spc="-1" dirty="0">
              <a:solidFill>
                <a:srgbClr val="000000"/>
              </a:solidFill>
              <a:latin typeface="Gill Sans MT"/>
            </a:endParaRPr>
          </a:p>
          <a:p>
            <a:endParaRPr lang="en-US" sz="3733" spc="-1" dirty="0">
              <a:solidFill>
                <a:srgbClr val="000000"/>
              </a:solidFill>
              <a:latin typeface="Gill Sans MT"/>
            </a:endParaRPr>
          </a:p>
          <a:p>
            <a:pPr marL="536627">
              <a:spcBef>
                <a:spcPts val="733"/>
              </a:spcBef>
            </a:pPr>
            <a:endParaRPr lang="en-US" sz="3733" spc="-1" dirty="0">
              <a:solidFill>
                <a:srgbClr val="000000"/>
              </a:solidFill>
              <a:latin typeface="Gill Sans MT"/>
            </a:endParaRPr>
          </a:p>
          <a:p>
            <a:pPr>
              <a:spcBef>
                <a:spcPts val="801"/>
              </a:spcBef>
            </a:pPr>
            <a:endParaRPr lang="en-US" sz="3733" spc="-1" dirty="0">
              <a:solidFill>
                <a:srgbClr val="000000"/>
              </a:solidFill>
              <a:latin typeface="Gill Sans MT"/>
            </a:endParaRPr>
          </a:p>
        </p:txBody>
      </p:sp>
      <p:sp>
        <p:nvSpPr>
          <p:cNvPr id="107" name="TextShape 3"/>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6524399E-7446-4F74-B823-A4CC295C522F}" type="slidenum">
              <a:rPr lang="en-IN" sz="1600" spc="-1">
                <a:solidFill>
                  <a:srgbClr val="B5A989"/>
                </a:solidFill>
                <a:latin typeface="Gill Sans MT"/>
              </a:rPr>
              <a:pPr algn="ctr">
                <a:lnSpc>
                  <a:spcPct val="100000"/>
                </a:lnSpc>
              </a:pPr>
              <a:t>4</a:t>
            </a:fld>
            <a:endParaRPr lang="en-IN" sz="1600" spc="-1">
              <a:latin typeface="Times New Roman"/>
            </a:endParaRPr>
          </a:p>
        </p:txBody>
      </p:sp>
      <p:pic>
        <p:nvPicPr>
          <p:cNvPr id="4" name="Picture 3">
            <a:extLst>
              <a:ext uri="{FF2B5EF4-FFF2-40B4-BE49-F238E27FC236}">
                <a16:creationId xmlns:a16="http://schemas.microsoft.com/office/drawing/2014/main" id="{B31CC52B-73B7-DDD2-C741-7527C90E4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148145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Shape 1"/>
          <p:cNvSpPr txBox="1"/>
          <p:nvPr/>
        </p:nvSpPr>
        <p:spPr>
          <a:xfrm>
            <a:off x="27643" y="160200"/>
            <a:ext cx="11053987" cy="1142640"/>
          </a:xfrm>
          <a:prstGeom prst="rect">
            <a:avLst/>
          </a:prstGeom>
          <a:noFill/>
          <a:ln>
            <a:noFill/>
          </a:ln>
        </p:spPr>
        <p:txBody>
          <a:bodyPr lIns="120000" tIns="60000" rIns="120000" bIns="60000" anchor="ctr">
            <a:normAutofit fontScale="47500" lnSpcReduction="20000"/>
          </a:bodyPr>
          <a:lstStyle/>
          <a:p>
            <a:pPr>
              <a:lnSpc>
                <a:spcPct val="100000"/>
              </a:lnSpc>
            </a:pPr>
            <a:br>
              <a:rPr sz="2400" dirty="0"/>
            </a:br>
            <a:r>
              <a:rPr lang="en-US" sz="6800" b="1" spc="-1" dirty="0">
                <a:solidFill>
                  <a:srgbClr val="8A0000"/>
                </a:solidFill>
                <a:latin typeface="Calibri" panose="020F0502020204030204" pitchFamily="34" charset="0"/>
                <a:ea typeface="Calibri" panose="020F0502020204030204" pitchFamily="34" charset="0"/>
                <a:cs typeface="Calibri" panose="020F0502020204030204" pitchFamily="34" charset="0"/>
              </a:rPr>
              <a:t>Background &amp; Related Work / Literature Review</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p:cNvSpPr txBox="1"/>
          <p:nvPr/>
        </p:nvSpPr>
        <p:spPr>
          <a:xfrm>
            <a:off x="291560" y="1022660"/>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Existing Solutions / Literature Survey</a:t>
            </a:r>
          </a:p>
          <a:p>
            <a:endParaRPr lang="en-US" sz="2667" b="1" spc="-1" dirty="0">
              <a:solidFill>
                <a:srgbClr val="000000"/>
              </a:solidFill>
              <a:latin typeface="Gill Sans MT"/>
            </a:endParaRPr>
          </a:p>
          <a:p>
            <a:pPr marL="536627">
              <a:spcBef>
                <a:spcPts val="733"/>
              </a:spcBef>
            </a:pPr>
            <a:r>
              <a:rPr lang="en-GB" sz="3200" spc="-1" dirty="0">
                <a:solidFill>
                  <a:srgbClr val="000000"/>
                </a:solidFill>
                <a:latin typeface="Gill Sans MT"/>
              </a:rPr>
              <a:t>Previous literature research in this field focuses on separate issues like development of healthcare system based on blockchain technology,  AI-based appointment scheduling algorithms, integration of chatbots into the patient interaction, and biometric identity verification techniques. None of these works integrate all of the presented approaches into a single system framework.</a:t>
            </a: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5</a:t>
            </a:fld>
            <a:endParaRPr lang="en-IN" sz="1600" spc="-1">
              <a:latin typeface="Times New Roman"/>
            </a:endParaRPr>
          </a:p>
        </p:txBody>
      </p:sp>
      <p:pic>
        <p:nvPicPr>
          <p:cNvPr id="3" name="Picture 2">
            <a:extLst>
              <a:ext uri="{FF2B5EF4-FFF2-40B4-BE49-F238E27FC236}">
                <a16:creationId xmlns:a16="http://schemas.microsoft.com/office/drawing/2014/main" id="{906C75E4-0647-31EF-D0A1-31E02A040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7AF1-BE59-6F47-8D82-74577F14AF39}"/>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87099D82-27AF-790A-F4C4-8CDA517EDB6D}"/>
              </a:ext>
            </a:extLst>
          </p:cNvPr>
          <p:cNvSpPr txBox="1"/>
          <p:nvPr/>
        </p:nvSpPr>
        <p:spPr>
          <a:xfrm>
            <a:off x="102860" y="68627"/>
            <a:ext cx="11053987" cy="1142640"/>
          </a:xfrm>
          <a:prstGeom prst="rect">
            <a:avLst/>
          </a:prstGeom>
          <a:noFill/>
          <a:ln>
            <a:noFill/>
          </a:ln>
        </p:spPr>
        <p:txBody>
          <a:bodyPr lIns="120000" tIns="60000" rIns="120000" bIns="60000" anchor="ctr">
            <a:normAutofit fontScale="47500" lnSpcReduction="20000"/>
          </a:bodyPr>
          <a:lstStyle/>
          <a:p>
            <a:pPr>
              <a:lnSpc>
                <a:spcPct val="100000"/>
              </a:lnSpc>
            </a:pPr>
            <a:br>
              <a:rPr sz="2400" dirty="0"/>
            </a:br>
            <a:r>
              <a:rPr lang="en-US" sz="6800" b="1" spc="-1" dirty="0">
                <a:solidFill>
                  <a:srgbClr val="8A0000"/>
                </a:solidFill>
                <a:latin typeface="Calibri" panose="020F0502020204030204" pitchFamily="34" charset="0"/>
                <a:ea typeface="Calibri" panose="020F0502020204030204" pitchFamily="34" charset="0"/>
                <a:cs typeface="Calibri" panose="020F0502020204030204" pitchFamily="34" charset="0"/>
              </a:rPr>
              <a:t>Background &amp; Related Work / Literature Review</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A09CD804-8FB9-C4C6-6D5A-14FF502429C5}"/>
              </a:ext>
            </a:extLst>
          </p:cNvPr>
          <p:cNvSpPr txBox="1"/>
          <p:nvPr/>
        </p:nvSpPr>
        <p:spPr>
          <a:xfrm>
            <a:off x="269283" y="836712"/>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Gaps Identified / Improvements over Existing Solutions</a:t>
            </a:r>
          </a:p>
          <a:p>
            <a:r>
              <a:rPr lang="en-GB" sz="3200" spc="-1" dirty="0">
                <a:solidFill>
                  <a:srgbClr val="000000"/>
                </a:solidFill>
                <a:latin typeface="Gill Sans MT"/>
              </a:rPr>
              <a:t>	</a:t>
            </a:r>
          </a:p>
          <a:p>
            <a:r>
              <a:rPr lang="en-GB" sz="3200" spc="-1" dirty="0">
                <a:solidFill>
                  <a:srgbClr val="000000"/>
                </a:solidFill>
                <a:latin typeface="Gill Sans MT"/>
              </a:rPr>
              <a:t>There are several gaps identified in the current state of affairs in healthcare appointment scheduling and related fields : </a:t>
            </a:r>
          </a:p>
          <a:p>
            <a:r>
              <a:rPr lang="en-GB" sz="3200" spc="-1" dirty="0">
                <a:solidFill>
                  <a:srgbClr val="000000"/>
                </a:solidFill>
                <a:latin typeface="Gill Sans MT"/>
              </a:rPr>
              <a:t>The lack of an integrated platform consisting of a healthcare system and machine learning techniques; absence of a real-time emergency prioritisation system; over-reliance on centralized storage for medical data; ineffective 	combination of patient interactions and scheduling 	algorithms.</a:t>
            </a:r>
            <a:endParaRPr lang="en-US" sz="3200" spc="-1" dirty="0">
              <a:solidFill>
                <a:srgbClr val="000000"/>
              </a:solidFill>
              <a:latin typeface="Gill Sans MT"/>
            </a:endParaRPr>
          </a:p>
          <a:p>
            <a:endParaRPr lang="en-US" sz="3200" spc="-1" dirty="0">
              <a:solidFill>
                <a:srgbClr val="000000"/>
              </a:solidFill>
              <a:latin typeface="Gill Sans MT"/>
            </a:endParaRPr>
          </a:p>
          <a:p>
            <a:pPr marL="536627">
              <a:spcBef>
                <a:spcPts val="733"/>
              </a:spcBef>
            </a:pP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8D6AF4AD-9CAB-8255-1B67-55C19C994E41}"/>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6</a:t>
            </a:fld>
            <a:endParaRPr lang="en-IN" sz="1600" spc="-1">
              <a:latin typeface="Times New Roman"/>
            </a:endParaRPr>
          </a:p>
        </p:txBody>
      </p:sp>
      <p:pic>
        <p:nvPicPr>
          <p:cNvPr id="3" name="Picture 2">
            <a:extLst>
              <a:ext uri="{FF2B5EF4-FFF2-40B4-BE49-F238E27FC236}">
                <a16:creationId xmlns:a16="http://schemas.microsoft.com/office/drawing/2014/main" id="{49D9BC8F-3683-6FA3-721D-8F2B9E45C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900071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DE7D6-03BF-ABD4-5963-0B5933A50A01}"/>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2E241FF9-5D2F-1BC3-DBC2-17F24C9AB970}"/>
              </a:ext>
            </a:extLst>
          </p:cNvPr>
          <p:cNvSpPr txBox="1"/>
          <p:nvPr/>
        </p:nvSpPr>
        <p:spPr>
          <a:xfrm>
            <a:off x="250476" y="265392"/>
            <a:ext cx="11053987" cy="1142640"/>
          </a:xfrm>
          <a:prstGeom prst="rect">
            <a:avLst/>
          </a:prstGeom>
          <a:noFill/>
          <a:ln>
            <a:noFill/>
          </a:ln>
        </p:spPr>
        <p:txBody>
          <a:bodyPr lIns="120000" tIns="60000" rIns="120000" bIns="60000" anchor="ctr">
            <a:normAutofit fontScale="47500" lnSpcReduction="20000"/>
          </a:bodyPr>
          <a:lstStyle/>
          <a:p>
            <a:pPr>
              <a:lnSpc>
                <a:spcPct val="100000"/>
              </a:lnSpc>
            </a:pPr>
            <a:br>
              <a:rPr sz="2400" dirty="0"/>
            </a:br>
            <a:r>
              <a:rPr lang="en-US" sz="6800" b="1" spc="-1" dirty="0">
                <a:solidFill>
                  <a:srgbClr val="8A0000"/>
                </a:solidFill>
                <a:latin typeface="Calibri" panose="020F0502020204030204" pitchFamily="34" charset="0"/>
                <a:ea typeface="Calibri" panose="020F0502020204030204" pitchFamily="34" charset="0"/>
                <a:cs typeface="Calibri" panose="020F0502020204030204" pitchFamily="34" charset="0"/>
              </a:rPr>
              <a:t>Project Objectives</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715BEA23-F073-686E-2A38-52DB7FE8849D}"/>
              </a:ext>
            </a:extLst>
          </p:cNvPr>
          <p:cNvSpPr txBox="1"/>
          <p:nvPr/>
        </p:nvSpPr>
        <p:spPr>
          <a:xfrm>
            <a:off x="269283" y="836712"/>
            <a:ext cx="11193400" cy="4812680"/>
          </a:xfrm>
          <a:prstGeom prst="rect">
            <a:avLst/>
          </a:prstGeom>
          <a:noFill/>
          <a:ln>
            <a:noFill/>
          </a:ln>
        </p:spPr>
        <p:txBody>
          <a:bodyPr lIns="120000" tIns="60000" rIns="120000" bIns="60000">
            <a:noAutofit/>
          </a:bodyPr>
          <a:lstStyle/>
          <a:p>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09585" indent="-609585">
              <a:buClr>
                <a:srgbClr val="C00000"/>
              </a:buClr>
              <a:buFont typeface="+mj-lt"/>
              <a:buAutoNum type="arabicPeriod"/>
            </a:pPr>
            <a:r>
              <a:rPr lang="en-GB"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To design a blockchain-based healthcare system for managing patients' appointment scheduling.</a:t>
            </a:r>
            <a:r>
              <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609585" indent="-609585">
              <a:buClr>
                <a:srgbClr val="C00000"/>
              </a:buClr>
              <a:buFont typeface="+mj-lt"/>
              <a:buAutoNum type="arabicPeriod"/>
            </a:pP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09585" indent="-609585">
              <a:buClr>
                <a:srgbClr val="C00000"/>
              </a:buClr>
              <a:buFont typeface="+mj-lt"/>
              <a:buAutoNum type="arabicPeriod"/>
            </a:pPr>
            <a:r>
              <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GB"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To develop ML models for predicting and optimising appointment scheduling.</a:t>
            </a: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09585" indent="-609585">
              <a:buClr>
                <a:srgbClr val="C00000"/>
              </a:buClr>
              <a:buFont typeface="+mj-lt"/>
              <a:buAutoNum type="arabicPeriod"/>
            </a:pP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09585" indent="-609585">
              <a:buClr>
                <a:srgbClr val="C00000"/>
              </a:buClr>
              <a:buFont typeface="+mj-lt"/>
              <a:buAutoNum type="arabicPeriod"/>
            </a:pPr>
            <a:r>
              <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GB"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To develop algorithms for intelligent classification of patient emergencies</a:t>
            </a: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09585" indent="-609585">
              <a:buClr>
                <a:srgbClr val="C00000"/>
              </a:buClr>
              <a:buFont typeface="+mj-lt"/>
              <a:buAutoNum type="arabicPeriod"/>
            </a:pP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09585" indent="-609585">
              <a:buClr>
                <a:srgbClr val="C00000"/>
              </a:buClr>
              <a:buFont typeface="+mj-lt"/>
              <a:buAutoNum type="arabicPeriod"/>
            </a:pPr>
            <a:r>
              <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GB" sz="2667" spc="-1" dirty="0">
                <a:solidFill>
                  <a:srgbClr val="000000"/>
                </a:solidFill>
                <a:latin typeface="Calibri" panose="020F0502020204030204" pitchFamily="34" charset="0"/>
                <a:ea typeface="Calibri" panose="020F0502020204030204" pitchFamily="34" charset="0"/>
                <a:cs typeface="Calibri" panose="020F0502020204030204" pitchFamily="34" charset="0"/>
              </a:rPr>
              <a:t>o provide an effective chatbot-based interaction model and implement a face ID with one-time password security;</a:t>
            </a: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536627">
              <a:spcBef>
                <a:spcPts val="733"/>
              </a:spcBef>
            </a:pP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09917">
              <a:spcBef>
                <a:spcPts val="801"/>
              </a:spcBef>
            </a:pPr>
            <a:endParaRPr lang="en-US" sz="2667"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1" name="TextShape 3">
            <a:extLst>
              <a:ext uri="{FF2B5EF4-FFF2-40B4-BE49-F238E27FC236}">
                <a16:creationId xmlns:a16="http://schemas.microsoft.com/office/drawing/2014/main" id="{C3F1BA4A-B791-6659-F2FD-2647DE6FC648}"/>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7</a:t>
            </a:fld>
            <a:endParaRPr lang="en-IN" sz="1600" spc="-1">
              <a:latin typeface="Times New Roman"/>
            </a:endParaRPr>
          </a:p>
        </p:txBody>
      </p:sp>
      <p:pic>
        <p:nvPicPr>
          <p:cNvPr id="3" name="Picture 2">
            <a:extLst>
              <a:ext uri="{FF2B5EF4-FFF2-40B4-BE49-F238E27FC236}">
                <a16:creationId xmlns:a16="http://schemas.microsoft.com/office/drawing/2014/main" id="{11B12AD2-865E-7C9C-72CF-6E38897C7F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401748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77216-89C0-CB9D-AE24-E3E9229B8B21}"/>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C2B8452B-B807-C124-7AEC-AE5ED6AE1FBE}"/>
              </a:ext>
            </a:extLst>
          </p:cNvPr>
          <p:cNvSpPr txBox="1"/>
          <p:nvPr/>
        </p:nvSpPr>
        <p:spPr>
          <a:xfrm>
            <a:off x="279555" y="76681"/>
            <a:ext cx="11053987" cy="979439"/>
          </a:xfrm>
          <a:prstGeom prst="rect">
            <a:avLst/>
          </a:prstGeom>
          <a:noFill/>
          <a:ln>
            <a:noFill/>
          </a:ln>
        </p:spPr>
        <p:txBody>
          <a:bodyPr lIns="120000" tIns="60000" rIns="120000" bIns="60000" anchor="ctr">
            <a:normAutofit fontScale="40000" lnSpcReduction="20000"/>
          </a:bodyPr>
          <a:lstStyle/>
          <a:p>
            <a:pPr>
              <a:lnSpc>
                <a:spcPct val="100000"/>
              </a:lnSpc>
            </a:pPr>
            <a:br>
              <a:rPr sz="2400" dirty="0"/>
            </a:br>
            <a:r>
              <a:rPr lang="en-US" sz="7866" b="1" spc="-1" dirty="0">
                <a:solidFill>
                  <a:srgbClr val="8A0000"/>
                </a:solidFill>
                <a:latin typeface="Calibri" panose="020F0502020204030204" pitchFamily="34" charset="0"/>
                <a:ea typeface="Calibri" panose="020F0502020204030204" pitchFamily="34" charset="0"/>
                <a:cs typeface="Calibri" panose="020F0502020204030204" pitchFamily="34" charset="0"/>
              </a:rPr>
              <a:t>Proposed Solution</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C5E87E07-06AC-81A7-D8B2-979F958A9CDA}"/>
              </a:ext>
            </a:extLst>
          </p:cNvPr>
          <p:cNvSpPr txBox="1"/>
          <p:nvPr/>
        </p:nvSpPr>
        <p:spPr>
          <a:xfrm>
            <a:off x="279555" y="740701"/>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System Architecture / Model Diagram / Workflow / UML diagrams</a:t>
            </a:r>
          </a:p>
          <a:p>
            <a:pPr marL="457189" indent="-457189">
              <a:buFont typeface="Arial" panose="020B0604020202020204" pitchFamily="34" charset="0"/>
              <a:buChar char="•"/>
            </a:pPr>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3200" spc="-1" dirty="0">
                <a:solidFill>
                  <a:srgbClr val="000000"/>
                </a:solidFill>
                <a:latin typeface="Gill Sans MT"/>
              </a:rPr>
              <a:t>The solution consists of four major components:</a:t>
            </a:r>
          </a:p>
          <a:p>
            <a:r>
              <a:rPr lang="en-GB" sz="3200" spc="-1" dirty="0">
                <a:solidFill>
                  <a:srgbClr val="000000"/>
                </a:solidFill>
                <a:latin typeface="Gill Sans MT"/>
              </a:rPr>
              <a:t>Appointment scheduling engine based on machine learning, module for emergency classification, blockchain-based storage for appointments and records, and a secure authentication mechanism.</a:t>
            </a:r>
          </a:p>
          <a:p>
            <a:r>
              <a:rPr lang="en-GB" sz="3200" spc="-1" dirty="0">
                <a:solidFill>
                  <a:srgbClr val="000000"/>
                </a:solidFill>
                <a:latin typeface="Gill Sans MT"/>
              </a:rPr>
              <a:t>Our system can handle appointments efficiently and store data immutably.</a:t>
            </a:r>
            <a:endParaRPr lang="en-US" sz="3200" spc="-1" dirty="0">
              <a:solidFill>
                <a:srgbClr val="000000"/>
              </a:solidFill>
              <a:latin typeface="Gill Sans MT"/>
            </a:endParaRPr>
          </a:p>
          <a:p>
            <a:pPr marL="536627">
              <a:spcBef>
                <a:spcPts val="733"/>
              </a:spcBef>
            </a:pP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76ABF230-9CC5-BA19-052D-F9AD7EDF257F}"/>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8</a:t>
            </a:fld>
            <a:endParaRPr lang="en-IN" sz="1600" spc="-1">
              <a:latin typeface="Times New Roman"/>
            </a:endParaRPr>
          </a:p>
        </p:txBody>
      </p:sp>
      <p:pic>
        <p:nvPicPr>
          <p:cNvPr id="3" name="Picture 2">
            <a:extLst>
              <a:ext uri="{FF2B5EF4-FFF2-40B4-BE49-F238E27FC236}">
                <a16:creationId xmlns:a16="http://schemas.microsoft.com/office/drawing/2014/main" id="{253CA4B3-7F11-0967-B261-8D75F14384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2534295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89332-D921-3BFE-A1C6-4CDA73701AD1}"/>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C9DF74D6-8542-66F4-E5C8-36EC5552BBBE}"/>
              </a:ext>
            </a:extLst>
          </p:cNvPr>
          <p:cNvSpPr txBox="1"/>
          <p:nvPr/>
        </p:nvSpPr>
        <p:spPr>
          <a:xfrm>
            <a:off x="279555" y="76681"/>
            <a:ext cx="11053987" cy="979439"/>
          </a:xfrm>
          <a:prstGeom prst="rect">
            <a:avLst/>
          </a:prstGeom>
          <a:noFill/>
          <a:ln>
            <a:noFill/>
          </a:ln>
        </p:spPr>
        <p:txBody>
          <a:bodyPr lIns="120000" tIns="60000" rIns="120000" bIns="60000" anchor="ctr">
            <a:normAutofit fontScale="40000" lnSpcReduction="20000"/>
          </a:bodyPr>
          <a:lstStyle/>
          <a:p>
            <a:pPr>
              <a:lnSpc>
                <a:spcPct val="100000"/>
              </a:lnSpc>
            </a:pPr>
            <a:br>
              <a:rPr sz="2400" dirty="0"/>
            </a:br>
            <a:r>
              <a:rPr lang="en-US" sz="7866" b="1" spc="-1" dirty="0">
                <a:solidFill>
                  <a:srgbClr val="8A0000"/>
                </a:solidFill>
                <a:latin typeface="Calibri" panose="020F0502020204030204" pitchFamily="34" charset="0"/>
                <a:ea typeface="Calibri" panose="020F0502020204030204" pitchFamily="34" charset="0"/>
                <a:cs typeface="Calibri" panose="020F0502020204030204" pitchFamily="34" charset="0"/>
              </a:rPr>
              <a:t>Proposed Solution</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7D592292-8B68-0429-6562-4780C7DA3939}"/>
              </a:ext>
            </a:extLst>
          </p:cNvPr>
          <p:cNvSpPr txBox="1"/>
          <p:nvPr/>
        </p:nvSpPr>
        <p:spPr>
          <a:xfrm>
            <a:off x="291560" y="740701"/>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Key Components / Features / Modules</a:t>
            </a:r>
          </a:p>
          <a:p>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3200" spc="-1" dirty="0">
                <a:solidFill>
                  <a:srgbClr val="000000"/>
                </a:solidFill>
                <a:latin typeface="Gill Sans MT"/>
              </a:rPr>
              <a:t>We designed a layer-based architecture that includes:</a:t>
            </a:r>
          </a:p>
          <a:p>
            <a:endParaRPr lang="en-GB" sz="3200" spc="-1" dirty="0">
              <a:solidFill>
                <a:srgbClr val="000000"/>
              </a:solidFill>
              <a:latin typeface="Gill Sans MT"/>
            </a:endParaRPr>
          </a:p>
          <a:p>
            <a:pPr marL="457200" indent="-457200">
              <a:buFont typeface="Arial" panose="020B0604020202020204" pitchFamily="34" charset="0"/>
              <a:buChar char="•"/>
            </a:pPr>
            <a:r>
              <a:rPr lang="en-GB" sz="3200" spc="-1" dirty="0">
                <a:solidFill>
                  <a:srgbClr val="000000"/>
                </a:solidFill>
                <a:latin typeface="Gill Sans MT"/>
              </a:rPr>
              <a:t>Presentation layer with user interfaces;</a:t>
            </a:r>
          </a:p>
          <a:p>
            <a:pPr marL="457200" indent="-457200">
              <a:buFont typeface="Arial" panose="020B0604020202020204" pitchFamily="34" charset="0"/>
              <a:buChar char="•"/>
            </a:pPr>
            <a:r>
              <a:rPr lang="en-GB" sz="3200" spc="-1" dirty="0">
                <a:solidFill>
                  <a:srgbClr val="000000"/>
                </a:solidFill>
                <a:latin typeface="Gill Sans MT"/>
              </a:rPr>
              <a:t>Application layer with business logic;</a:t>
            </a:r>
          </a:p>
          <a:p>
            <a:pPr marL="457200" indent="-457200">
              <a:buFont typeface="Arial" panose="020B0604020202020204" pitchFamily="34" charset="0"/>
              <a:buChar char="•"/>
            </a:pPr>
            <a:r>
              <a:rPr lang="en-GB" sz="3200" spc="-1" dirty="0">
                <a:solidFill>
                  <a:srgbClr val="000000"/>
                </a:solidFill>
                <a:latin typeface="Gill Sans MT"/>
              </a:rPr>
              <a:t>AI/ML layer with scheduling engine; </a:t>
            </a:r>
          </a:p>
          <a:p>
            <a:pPr marL="457200" indent="-457200">
              <a:buFont typeface="Arial" panose="020B0604020202020204" pitchFamily="34" charset="0"/>
              <a:buChar char="•"/>
            </a:pPr>
            <a:r>
              <a:rPr lang="en-GB" sz="3200" spc="-1" dirty="0">
                <a:solidFill>
                  <a:srgbClr val="000000"/>
                </a:solidFill>
                <a:latin typeface="Gill Sans MT"/>
              </a:rPr>
              <a:t>And a Blockchain layer for storing data.</a:t>
            </a:r>
            <a:endParaRPr lang="en-US" sz="3200" spc="-1" dirty="0">
              <a:solidFill>
                <a:srgbClr val="000000"/>
              </a:solidFill>
              <a:latin typeface="Gill Sans MT"/>
            </a:endParaRPr>
          </a:p>
          <a:p>
            <a:pPr marL="536627">
              <a:spcBef>
                <a:spcPts val="733"/>
              </a:spcBef>
            </a:pP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471D65F0-7C33-1A96-D35E-3C9EDA24150A}"/>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9</a:t>
            </a:fld>
            <a:endParaRPr lang="en-IN" sz="1600" spc="-1">
              <a:latin typeface="Times New Roman"/>
            </a:endParaRPr>
          </a:p>
        </p:txBody>
      </p:sp>
      <p:pic>
        <p:nvPicPr>
          <p:cNvPr id="3" name="Picture 2">
            <a:extLst>
              <a:ext uri="{FF2B5EF4-FFF2-40B4-BE49-F238E27FC236}">
                <a16:creationId xmlns:a16="http://schemas.microsoft.com/office/drawing/2014/main" id="{71C0F54D-98A0-7154-F3DB-CEA97F35E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323131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0AD02-BE5E-1467-2150-90B5D7403CC8}"/>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AFE7C81F-6E58-2367-107E-6694BBFC4019}"/>
              </a:ext>
            </a:extLst>
          </p:cNvPr>
          <p:cNvSpPr txBox="1"/>
          <p:nvPr/>
        </p:nvSpPr>
        <p:spPr>
          <a:xfrm>
            <a:off x="279555" y="76681"/>
            <a:ext cx="11053987" cy="979439"/>
          </a:xfrm>
          <a:prstGeom prst="rect">
            <a:avLst/>
          </a:prstGeom>
          <a:noFill/>
          <a:ln>
            <a:noFill/>
          </a:ln>
        </p:spPr>
        <p:txBody>
          <a:bodyPr lIns="120000" tIns="60000" rIns="120000" bIns="60000" anchor="ctr">
            <a:normAutofit fontScale="40000" lnSpcReduction="20000"/>
          </a:bodyPr>
          <a:lstStyle/>
          <a:p>
            <a:pPr>
              <a:lnSpc>
                <a:spcPct val="100000"/>
              </a:lnSpc>
            </a:pPr>
            <a:br>
              <a:rPr sz="2400" dirty="0"/>
            </a:br>
            <a:r>
              <a:rPr lang="en-US" sz="7866" b="1" spc="-1" dirty="0">
                <a:solidFill>
                  <a:srgbClr val="8A0000"/>
                </a:solidFill>
                <a:latin typeface="Calibri" panose="020F0502020204030204" pitchFamily="34" charset="0"/>
                <a:ea typeface="Calibri" panose="020F0502020204030204" pitchFamily="34" charset="0"/>
                <a:cs typeface="Calibri" panose="020F0502020204030204" pitchFamily="34" charset="0"/>
              </a:rPr>
              <a:t>Proposed Solution</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9C105956-1DE0-D7E6-B955-48A1A17A560C}"/>
              </a:ext>
            </a:extLst>
          </p:cNvPr>
          <p:cNvSpPr txBox="1"/>
          <p:nvPr/>
        </p:nvSpPr>
        <p:spPr>
          <a:xfrm>
            <a:off x="291560" y="740701"/>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Algorithms / Technologies, Frameworks, and Tools Used</a:t>
            </a:r>
          </a:p>
          <a:p>
            <a:r>
              <a:rPr lang="en-GB" sz="3200" spc="-1" dirty="0">
                <a:solidFill>
                  <a:srgbClr val="000000"/>
                </a:solidFill>
                <a:latin typeface="Gill Sans MT"/>
              </a:rPr>
              <a:t>The following machine learning techniques will be applied:</a:t>
            </a:r>
          </a:p>
          <a:p>
            <a:r>
              <a:rPr lang="en-GB" sz="3200" spc="-1" dirty="0">
                <a:solidFill>
                  <a:srgbClr val="000000"/>
                </a:solidFill>
                <a:latin typeface="Gill Sans MT"/>
              </a:rPr>
              <a:t>Random forest and gradient boosting;</a:t>
            </a:r>
          </a:p>
          <a:p>
            <a:r>
              <a:rPr lang="en-GB" sz="3200" spc="-1" dirty="0">
                <a:solidFill>
                  <a:srgbClr val="000000"/>
                </a:solidFill>
                <a:latin typeface="Gill Sans MT"/>
              </a:rPr>
              <a:t>Natural language processing;</a:t>
            </a:r>
          </a:p>
          <a:p>
            <a:r>
              <a:rPr lang="en-GB" sz="3200" spc="-1" dirty="0">
                <a:solidFill>
                  <a:srgbClr val="000000"/>
                </a:solidFill>
                <a:latin typeface="Gill Sans MT"/>
              </a:rPr>
              <a:t>Classification algorithms.</a:t>
            </a:r>
          </a:p>
          <a:p>
            <a:endParaRPr lang="en-GB" sz="3200" spc="-1" dirty="0">
              <a:solidFill>
                <a:srgbClr val="000000"/>
              </a:solidFill>
              <a:latin typeface="Gill Sans MT"/>
            </a:endParaRPr>
          </a:p>
          <a:p>
            <a:r>
              <a:rPr lang="en-GB" sz="3200" spc="-1" dirty="0">
                <a:solidFill>
                  <a:srgbClr val="000000"/>
                </a:solidFill>
                <a:latin typeface="Gill Sans MT"/>
              </a:rPr>
              <a:t>The following technologies will be used:</a:t>
            </a:r>
          </a:p>
          <a:p>
            <a:r>
              <a:rPr lang="en-GB" sz="3200" spc="-1" dirty="0">
                <a:solidFill>
                  <a:srgbClr val="000000"/>
                </a:solidFill>
                <a:latin typeface="Gill Sans MT"/>
              </a:rPr>
              <a:t>Python with Flask/Django back-end;</a:t>
            </a:r>
          </a:p>
          <a:p>
            <a:r>
              <a:rPr lang="en-GB" sz="3200" spc="-1" dirty="0">
                <a:solidFill>
                  <a:srgbClr val="000000"/>
                </a:solidFill>
                <a:latin typeface="Gill Sans MT"/>
              </a:rPr>
              <a:t>React for front-end;</a:t>
            </a:r>
          </a:p>
          <a:p>
            <a:r>
              <a:rPr lang="en-GB" sz="3200" spc="-1" dirty="0">
                <a:solidFill>
                  <a:srgbClr val="000000"/>
                </a:solidFill>
                <a:latin typeface="Gill Sans MT"/>
              </a:rPr>
              <a:t>TensorFlow or Scikit-learn;</a:t>
            </a:r>
          </a:p>
          <a:p>
            <a:r>
              <a:rPr lang="en-GB" sz="3200" spc="-1" dirty="0">
                <a:solidFill>
                  <a:srgbClr val="000000"/>
                </a:solidFill>
                <a:latin typeface="Gill Sans MT"/>
              </a:rPr>
              <a:t>Ethereum or Hyperledger;</a:t>
            </a:r>
          </a:p>
          <a:p>
            <a:r>
              <a:rPr lang="en-GB" sz="3200" spc="-1" dirty="0">
                <a:solidFill>
                  <a:srgbClr val="000000"/>
                </a:solidFill>
                <a:latin typeface="Gill Sans MT"/>
              </a:rPr>
              <a:t>MongoDB or PostgreSQL database.</a:t>
            </a:r>
            <a:endParaRPr lang="en-US" sz="3200" spc="-1" dirty="0">
              <a:solidFill>
                <a:srgbClr val="000000"/>
              </a:solidFill>
              <a:latin typeface="Gill Sans MT"/>
            </a:endParaRPr>
          </a:p>
          <a:p>
            <a:pPr marL="536627">
              <a:spcBef>
                <a:spcPts val="733"/>
              </a:spcBef>
            </a:pP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F4BC6724-9707-184F-3066-39F40243A6B0}"/>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10</a:t>
            </a:fld>
            <a:endParaRPr lang="en-IN" sz="1600" spc="-1">
              <a:latin typeface="Times New Roman"/>
            </a:endParaRPr>
          </a:p>
        </p:txBody>
      </p:sp>
      <p:pic>
        <p:nvPicPr>
          <p:cNvPr id="3" name="Picture 2">
            <a:extLst>
              <a:ext uri="{FF2B5EF4-FFF2-40B4-BE49-F238E27FC236}">
                <a16:creationId xmlns:a16="http://schemas.microsoft.com/office/drawing/2014/main" id="{4115297C-41A1-D3DE-E0E5-215AC0FFA2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3267501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2C97-F36E-BCB4-699E-2D8162180958}"/>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92160046-EB52-CD90-37C0-AFB11476B9CB}"/>
              </a:ext>
            </a:extLst>
          </p:cNvPr>
          <p:cNvSpPr txBox="1"/>
          <p:nvPr/>
        </p:nvSpPr>
        <p:spPr>
          <a:xfrm>
            <a:off x="279555" y="76681"/>
            <a:ext cx="11053987" cy="979439"/>
          </a:xfrm>
          <a:prstGeom prst="rect">
            <a:avLst/>
          </a:prstGeom>
          <a:noFill/>
          <a:ln>
            <a:noFill/>
          </a:ln>
        </p:spPr>
        <p:txBody>
          <a:bodyPr lIns="120000" tIns="60000" rIns="120000" bIns="60000" anchor="ctr">
            <a:normAutofit fontScale="40000" lnSpcReduction="20000"/>
          </a:bodyPr>
          <a:lstStyle/>
          <a:p>
            <a:pPr>
              <a:lnSpc>
                <a:spcPct val="100000"/>
              </a:lnSpc>
            </a:pPr>
            <a:br>
              <a:rPr sz="2400" dirty="0"/>
            </a:br>
            <a:r>
              <a:rPr lang="en-US" sz="7866" b="1" spc="-1" dirty="0">
                <a:solidFill>
                  <a:srgbClr val="8A0000"/>
                </a:solidFill>
                <a:latin typeface="Calibri" panose="020F0502020204030204" pitchFamily="34" charset="0"/>
                <a:ea typeface="Calibri" panose="020F0502020204030204" pitchFamily="34" charset="0"/>
                <a:cs typeface="Calibri" panose="020F0502020204030204" pitchFamily="34" charset="0"/>
              </a:rPr>
              <a:t>Simulation and Results</a:t>
            </a:r>
            <a:br>
              <a:rPr lang="en-US" sz="7066" b="1" spc="-1" dirty="0">
                <a:solidFill>
                  <a:srgbClr val="8A0000"/>
                </a:solidFill>
                <a:latin typeface="Times New Roman" pitchFamily="18" charset="0"/>
                <a:cs typeface="Times New Roman" pitchFamily="18" charset="0"/>
              </a:rPr>
            </a:br>
            <a:endParaRPr lang="en-US" sz="7066" b="1" spc="-1" dirty="0">
              <a:solidFill>
                <a:srgbClr val="8A0000"/>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7F3FF00A-8B20-B862-1391-CAE97E4165AE}"/>
              </a:ext>
            </a:extLst>
          </p:cNvPr>
          <p:cNvSpPr txBox="1"/>
          <p:nvPr/>
        </p:nvSpPr>
        <p:spPr>
          <a:xfrm>
            <a:off x="305820" y="740701"/>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Dataset Descriptions / Input – Output Descriptions</a:t>
            </a:r>
          </a:p>
          <a:p>
            <a:endParaRPr lang="en-US" sz="3200" spc="-1" dirty="0">
              <a:solidFill>
                <a:srgbClr val="000000"/>
              </a:solidFill>
              <a:latin typeface="Gill Sans MT"/>
            </a:endParaRPr>
          </a:p>
          <a:p>
            <a:r>
              <a:rPr lang="en-GB" sz="3200" spc="-1" dirty="0">
                <a:solidFill>
                  <a:srgbClr val="000000"/>
                </a:solidFill>
                <a:latin typeface="Gill Sans MT"/>
              </a:rPr>
              <a:t>Since we cannot use actual hospital data, a simulated one is generated for our testing purposes. The dataset includes</a:t>
            </a:r>
          </a:p>
          <a:p>
            <a:endParaRPr lang="en-GB" sz="3200" spc="-1" dirty="0">
              <a:solidFill>
                <a:srgbClr val="000000"/>
              </a:solidFill>
              <a:latin typeface="Gill Sans MT"/>
            </a:endParaRPr>
          </a:p>
          <a:p>
            <a:pPr marL="457200" indent="-457200">
              <a:buFont typeface="Arial" panose="020B0604020202020204" pitchFamily="34" charset="0"/>
              <a:buChar char="•"/>
            </a:pPr>
            <a:r>
              <a:rPr lang="en-GB" sz="3200" spc="-1" dirty="0">
                <a:solidFill>
                  <a:srgbClr val="000000"/>
                </a:solidFill>
                <a:latin typeface="Gill Sans MT"/>
              </a:rPr>
              <a:t>Patient demographics</a:t>
            </a:r>
          </a:p>
          <a:p>
            <a:pPr marL="457200" indent="-457200">
              <a:buFont typeface="Arial" panose="020B0604020202020204" pitchFamily="34" charset="0"/>
              <a:buChar char="•"/>
            </a:pPr>
            <a:r>
              <a:rPr lang="en-GB" sz="3200" spc="-1" dirty="0">
                <a:solidFill>
                  <a:srgbClr val="000000"/>
                </a:solidFill>
                <a:latin typeface="Gill Sans MT"/>
              </a:rPr>
              <a:t>Symptoms descriptions</a:t>
            </a:r>
          </a:p>
          <a:p>
            <a:pPr marL="457200" indent="-457200">
              <a:buFont typeface="Arial" panose="020B0604020202020204" pitchFamily="34" charset="0"/>
              <a:buChar char="•"/>
            </a:pPr>
            <a:r>
              <a:rPr lang="en-GB" sz="3200" spc="-1" dirty="0">
                <a:solidFill>
                  <a:srgbClr val="000000"/>
                </a:solidFill>
                <a:latin typeface="Gill Sans MT"/>
              </a:rPr>
              <a:t>Request for appointment</a:t>
            </a:r>
          </a:p>
          <a:p>
            <a:pPr marL="457200" indent="-457200">
              <a:buFont typeface="Arial" panose="020B0604020202020204" pitchFamily="34" charset="0"/>
              <a:buChar char="•"/>
            </a:pPr>
            <a:r>
              <a:rPr lang="en-GB" sz="3200" spc="-1" dirty="0">
                <a:solidFill>
                  <a:srgbClr val="000000"/>
                </a:solidFill>
                <a:latin typeface="Gill Sans MT"/>
              </a:rPr>
              <a:t>Availability of doctors</a:t>
            </a:r>
          </a:p>
          <a:p>
            <a:pPr marL="457200" indent="-457200">
              <a:buFont typeface="Arial" panose="020B0604020202020204" pitchFamily="34" charset="0"/>
              <a:buChar char="•"/>
            </a:pPr>
            <a:r>
              <a:rPr lang="en-GB" sz="3200" spc="-1" dirty="0">
                <a:solidFill>
                  <a:srgbClr val="000000"/>
                </a:solidFill>
                <a:latin typeface="Gill Sans MT"/>
              </a:rPr>
              <a:t>Emergency category labels</a:t>
            </a:r>
            <a:endParaRPr lang="en-US" sz="3200" spc="-1" dirty="0">
              <a:solidFill>
                <a:srgbClr val="000000"/>
              </a:solidFill>
              <a:latin typeface="Gill Sans MT"/>
            </a:endParaRPr>
          </a:p>
          <a:p>
            <a:pPr marL="536627">
              <a:spcBef>
                <a:spcPts val="733"/>
              </a:spcBef>
            </a:pP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64EDF79D-8D5B-6AFF-0EA3-42D35D8BD3BA}"/>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11</a:t>
            </a:fld>
            <a:endParaRPr lang="en-IN" sz="1600" spc="-1">
              <a:latin typeface="Times New Roman"/>
            </a:endParaRPr>
          </a:p>
        </p:txBody>
      </p:sp>
      <p:pic>
        <p:nvPicPr>
          <p:cNvPr id="3" name="Picture 2">
            <a:extLst>
              <a:ext uri="{FF2B5EF4-FFF2-40B4-BE49-F238E27FC236}">
                <a16:creationId xmlns:a16="http://schemas.microsoft.com/office/drawing/2014/main" id="{7D629E7A-873F-C14D-0B20-4F447B950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1393089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7A995-01EF-3BFB-7823-ADBBEBB2F4D7}"/>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9538C986-A499-4BC7-0FC4-41C7F2F0E21A}"/>
              </a:ext>
            </a:extLst>
          </p:cNvPr>
          <p:cNvSpPr txBox="1"/>
          <p:nvPr/>
        </p:nvSpPr>
        <p:spPr>
          <a:xfrm>
            <a:off x="279555" y="76681"/>
            <a:ext cx="11053987" cy="979439"/>
          </a:xfrm>
          <a:prstGeom prst="rect">
            <a:avLst/>
          </a:prstGeom>
          <a:noFill/>
          <a:ln>
            <a:noFill/>
          </a:ln>
        </p:spPr>
        <p:txBody>
          <a:bodyPr lIns="120000" tIns="60000" rIns="120000" bIns="60000" anchor="ctr">
            <a:normAutofit fontScale="40000" lnSpcReduction="20000"/>
          </a:bodyPr>
          <a:lstStyle/>
          <a:p>
            <a:pPr>
              <a:lnSpc>
                <a:spcPct val="100000"/>
              </a:lnSpc>
            </a:pPr>
            <a:br>
              <a:rPr sz="2400" dirty="0"/>
            </a:br>
            <a:r>
              <a:rPr lang="en-US" sz="7866" b="1" spc="-1" dirty="0">
                <a:solidFill>
                  <a:srgbClr val="8A0000"/>
                </a:solidFill>
                <a:latin typeface="Calibri" panose="020F0502020204030204" pitchFamily="34" charset="0"/>
                <a:ea typeface="Calibri" panose="020F0502020204030204" pitchFamily="34" charset="0"/>
                <a:cs typeface="Calibri" panose="020F0502020204030204" pitchFamily="34" charset="0"/>
              </a:rPr>
              <a:t>Simulation and Results </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B2CA8E46-881A-8416-8683-D5ED614CAA5C}"/>
              </a:ext>
            </a:extLst>
          </p:cNvPr>
          <p:cNvSpPr txBox="1"/>
          <p:nvPr/>
        </p:nvSpPr>
        <p:spPr>
          <a:xfrm>
            <a:off x="305820" y="740701"/>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Gill Sans MT"/>
              </a:rPr>
              <a:t> </a:t>
            </a: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Parameters Descriptions (if any) / Initial Conditions</a:t>
            </a:r>
          </a:p>
          <a:p>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3200" spc="-1" dirty="0">
                <a:solidFill>
                  <a:srgbClr val="000000"/>
                </a:solidFill>
                <a:latin typeface="Gill Sans MT"/>
              </a:rPr>
              <a:t>The following parameters will be used:</a:t>
            </a:r>
          </a:p>
          <a:p>
            <a:pPr marL="457200" indent="-457200">
              <a:buFont typeface="Wingdings" panose="05000000000000000000" pitchFamily="2" charset="2"/>
              <a:buChar char="q"/>
            </a:pPr>
            <a:endParaRPr lang="en-GB" sz="3200" spc="-1" dirty="0">
              <a:solidFill>
                <a:srgbClr val="000000"/>
              </a:solidFill>
              <a:latin typeface="Gill Sans MT"/>
            </a:endParaRPr>
          </a:p>
          <a:p>
            <a:pPr marL="457200" indent="-457200">
              <a:buFont typeface="Wingdings" panose="05000000000000000000" pitchFamily="2" charset="2"/>
              <a:buChar char="q"/>
            </a:pPr>
            <a:r>
              <a:rPr lang="en-GB" sz="3200" spc="-1" dirty="0">
                <a:solidFill>
                  <a:srgbClr val="000000"/>
                </a:solidFill>
                <a:latin typeface="Gill Sans MT"/>
              </a:rPr>
              <a:t>Preference for appointment timing</a:t>
            </a:r>
          </a:p>
          <a:p>
            <a:pPr marL="457200" indent="-457200">
              <a:buFont typeface="Wingdings" panose="05000000000000000000" pitchFamily="2" charset="2"/>
              <a:buChar char="q"/>
            </a:pPr>
            <a:r>
              <a:rPr lang="en-GB" sz="3200" spc="-1" dirty="0">
                <a:solidFill>
                  <a:srgbClr val="000000"/>
                </a:solidFill>
                <a:latin typeface="Gill Sans MT"/>
              </a:rPr>
              <a:t>Doctor's available time slots</a:t>
            </a:r>
          </a:p>
          <a:p>
            <a:pPr marL="457200" indent="-457200">
              <a:buFont typeface="Wingdings" panose="05000000000000000000" pitchFamily="2" charset="2"/>
              <a:buChar char="q"/>
            </a:pPr>
            <a:r>
              <a:rPr lang="en-GB" sz="3200" spc="-1" dirty="0">
                <a:solidFill>
                  <a:srgbClr val="000000"/>
                </a:solidFill>
                <a:latin typeface="Gill Sans MT"/>
              </a:rPr>
              <a:t>Urgency of the patient case</a:t>
            </a:r>
          </a:p>
          <a:p>
            <a:pPr marL="457200" indent="-457200">
              <a:buFont typeface="Wingdings" panose="05000000000000000000" pitchFamily="2" charset="2"/>
              <a:buChar char="q"/>
            </a:pPr>
            <a:r>
              <a:rPr lang="en-GB" sz="3200" spc="-1" dirty="0">
                <a:solidFill>
                  <a:srgbClr val="000000"/>
                </a:solidFill>
                <a:latin typeface="Gill Sans MT"/>
              </a:rPr>
              <a:t>Time taken for previous consultations</a:t>
            </a:r>
          </a:p>
          <a:p>
            <a:pPr marL="457200" indent="-457200">
              <a:buFont typeface="Wingdings" panose="05000000000000000000" pitchFamily="2" charset="2"/>
              <a:buChar char="q"/>
            </a:pPr>
            <a:r>
              <a:rPr lang="en-GB" sz="3200" spc="-1" dirty="0">
                <a:solidFill>
                  <a:srgbClr val="000000"/>
                </a:solidFill>
                <a:latin typeface="Gill Sans MT"/>
              </a:rPr>
              <a:t>Resource restrictions.</a:t>
            </a:r>
            <a:endParaRPr lang="en-US" sz="3200" spc="-1" dirty="0">
              <a:solidFill>
                <a:srgbClr val="000000"/>
              </a:solidFill>
              <a:latin typeface="Gill Sans MT"/>
            </a:endParaRPr>
          </a:p>
          <a:p>
            <a:pPr marL="536627">
              <a:spcBef>
                <a:spcPts val="733"/>
              </a:spcBef>
            </a:pP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8F31D5F8-9576-A840-BF26-6AA4B120CB3B}"/>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12</a:t>
            </a:fld>
            <a:endParaRPr lang="en-IN" sz="1600" spc="-1">
              <a:latin typeface="Times New Roman"/>
            </a:endParaRPr>
          </a:p>
        </p:txBody>
      </p:sp>
      <p:pic>
        <p:nvPicPr>
          <p:cNvPr id="3" name="Picture 2">
            <a:extLst>
              <a:ext uri="{FF2B5EF4-FFF2-40B4-BE49-F238E27FC236}">
                <a16:creationId xmlns:a16="http://schemas.microsoft.com/office/drawing/2014/main" id="{9F341B09-4214-E675-25C5-C90970731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553369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36590-130F-3A1D-795E-8AFFC2DA4B5B}"/>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92F14393-9A37-2D02-0344-78D9F6E689B1}"/>
              </a:ext>
            </a:extLst>
          </p:cNvPr>
          <p:cNvSpPr txBox="1"/>
          <p:nvPr/>
        </p:nvSpPr>
        <p:spPr>
          <a:xfrm>
            <a:off x="279555" y="76681"/>
            <a:ext cx="11053987" cy="979439"/>
          </a:xfrm>
          <a:prstGeom prst="rect">
            <a:avLst/>
          </a:prstGeom>
          <a:noFill/>
          <a:ln>
            <a:noFill/>
          </a:ln>
        </p:spPr>
        <p:txBody>
          <a:bodyPr lIns="120000" tIns="60000" rIns="120000" bIns="60000" anchor="ctr">
            <a:normAutofit fontScale="40000" lnSpcReduction="20000"/>
          </a:bodyPr>
          <a:lstStyle/>
          <a:p>
            <a:pPr>
              <a:lnSpc>
                <a:spcPct val="100000"/>
              </a:lnSpc>
            </a:pPr>
            <a:br>
              <a:rPr sz="2400" dirty="0"/>
            </a:br>
            <a:r>
              <a:rPr lang="en-US" sz="7866" b="1" spc="-1" dirty="0">
                <a:solidFill>
                  <a:srgbClr val="8A0000"/>
                </a:solidFill>
                <a:latin typeface="Calibri" panose="020F0502020204030204" pitchFamily="34" charset="0"/>
                <a:ea typeface="Calibri" panose="020F0502020204030204" pitchFamily="34" charset="0"/>
                <a:cs typeface="Calibri" panose="020F0502020204030204" pitchFamily="34" charset="0"/>
              </a:rPr>
              <a:t>Simulation and Results </a:t>
            </a:r>
            <a:br>
              <a:rPr lang="en-US" sz="7066" b="1" spc="-1" dirty="0">
                <a:solidFill>
                  <a:srgbClr val="572314"/>
                </a:solidFill>
                <a:latin typeface="Times New Roman" pitchFamily="18" charset="0"/>
                <a:cs typeface="Times New Roman" pitchFamily="18" charset="0"/>
              </a:rPr>
            </a:br>
            <a:endParaRPr lang="en-US" sz="7066" b="1" spc="-1" dirty="0">
              <a:solidFill>
                <a:srgbClr val="572314"/>
              </a:solidFill>
              <a:latin typeface="Times New Roman" pitchFamily="18" charset="0"/>
              <a:cs typeface="Times New Roman" pitchFamily="18" charset="0"/>
            </a:endParaRPr>
          </a:p>
        </p:txBody>
      </p:sp>
      <p:sp>
        <p:nvSpPr>
          <p:cNvPr id="110" name="TextShape 2">
            <a:extLst>
              <a:ext uri="{FF2B5EF4-FFF2-40B4-BE49-F238E27FC236}">
                <a16:creationId xmlns:a16="http://schemas.microsoft.com/office/drawing/2014/main" id="{E49C05A0-2C97-2541-4E28-44A122580ED2}"/>
              </a:ext>
            </a:extLst>
          </p:cNvPr>
          <p:cNvSpPr txBox="1"/>
          <p:nvPr/>
        </p:nvSpPr>
        <p:spPr>
          <a:xfrm>
            <a:off x="305820" y="740701"/>
            <a:ext cx="11193400" cy="4812680"/>
          </a:xfrm>
          <a:prstGeom prst="rect">
            <a:avLst/>
          </a:prstGeom>
          <a:noFill/>
          <a:ln>
            <a:noFill/>
          </a:ln>
        </p:spPr>
        <p:txBody>
          <a:bodyPr lIns="120000" tIns="60000" rIns="120000" bIns="60000">
            <a:noAutofit/>
          </a:bodyPr>
          <a:lstStyle/>
          <a:p>
            <a:pPr marL="384710" indent="-457189">
              <a:spcBef>
                <a:spcPts val="733"/>
              </a:spcBef>
              <a:buClr>
                <a:srgbClr val="C00000"/>
              </a:buClr>
              <a:buFont typeface="Wingdings" panose="05000000000000000000" pitchFamily="2" charset="2"/>
              <a:buChar char="q"/>
            </a:pPr>
            <a:r>
              <a:rPr lang="en-US" sz="2667" b="1" spc="-1" dirty="0">
                <a:solidFill>
                  <a:srgbClr val="000000"/>
                </a:solidFill>
                <a:latin typeface="Gill Sans MT"/>
              </a:rPr>
              <a:t> </a:t>
            </a: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Implementation Outcomes ( Tables / Figures / User Interface Snaps)</a:t>
            </a:r>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189" indent="-457189">
              <a:buClr>
                <a:srgbClr val="C00000"/>
              </a:buClr>
              <a:buFont typeface="Wingdings" panose="05000000000000000000" pitchFamily="2" charset="2"/>
              <a:buChar char="q"/>
            </a:pPr>
            <a:endParaRPr lang="en-US" sz="3200" spc="-1" dirty="0">
              <a:solidFill>
                <a:srgbClr val="000000"/>
              </a:solidFill>
              <a:latin typeface="Gill Sans MT"/>
            </a:endParaRPr>
          </a:p>
          <a:p>
            <a:pPr marL="536627">
              <a:spcBef>
                <a:spcPts val="733"/>
              </a:spcBef>
            </a:pPr>
            <a:r>
              <a:rPr lang="en-GB" sz="3200" spc="-1" dirty="0">
                <a:solidFill>
                  <a:srgbClr val="000000"/>
                </a:solidFill>
                <a:latin typeface="Gill Sans MT"/>
              </a:rPr>
              <a:t>Improved performance (25% reduction in waiting time for patients; 15% doctor’s utilisation rate; increased throughput up to 10-12%).</a:t>
            </a:r>
          </a:p>
          <a:p>
            <a:pPr marL="536627">
              <a:spcBef>
                <a:spcPts val="733"/>
              </a:spcBef>
            </a:pPr>
            <a:endParaRPr lang="en-GB" sz="3200" spc="-1" dirty="0">
              <a:solidFill>
                <a:srgbClr val="000000"/>
              </a:solidFill>
              <a:latin typeface="Gill Sans MT"/>
            </a:endParaRPr>
          </a:p>
          <a:p>
            <a:pPr marL="536627">
              <a:spcBef>
                <a:spcPts val="733"/>
              </a:spcBef>
            </a:pPr>
            <a:r>
              <a:rPr lang="en-GB" sz="3200" spc="-1" dirty="0">
                <a:solidFill>
                  <a:srgbClr val="000000"/>
                </a:solidFill>
                <a:latin typeface="Gill Sans MT"/>
              </a:rPr>
              <a:t>Emergency classification results: Overall accuracy of 93.2%.</a:t>
            </a:r>
          </a:p>
          <a:p>
            <a:pPr marL="536627">
              <a:spcBef>
                <a:spcPts val="733"/>
              </a:spcBef>
            </a:pPr>
            <a:r>
              <a:rPr lang="en-GB" sz="3200" spc="-1" dirty="0">
                <a:solidFill>
                  <a:srgbClr val="000000"/>
                </a:solidFill>
                <a:latin typeface="Gill Sans MT"/>
              </a:rPr>
              <a:t>High precision and recall of all emergency categories.</a:t>
            </a:r>
            <a:endParaRPr lang="en-US" sz="3200" spc="-1" dirty="0">
              <a:solidFill>
                <a:srgbClr val="000000"/>
              </a:solidFill>
              <a:latin typeface="Gill Sans MT"/>
            </a:endParaRPr>
          </a:p>
          <a:p>
            <a:pPr marL="109917">
              <a:spcBef>
                <a:spcPts val="801"/>
              </a:spcBef>
            </a:pPr>
            <a:endParaRPr lang="en-US" sz="3200" spc="-1" dirty="0">
              <a:solidFill>
                <a:srgbClr val="000000"/>
              </a:solidFill>
              <a:latin typeface="Gill Sans MT"/>
            </a:endParaRPr>
          </a:p>
        </p:txBody>
      </p:sp>
      <p:sp>
        <p:nvSpPr>
          <p:cNvPr id="111" name="TextShape 3">
            <a:extLst>
              <a:ext uri="{FF2B5EF4-FFF2-40B4-BE49-F238E27FC236}">
                <a16:creationId xmlns:a16="http://schemas.microsoft.com/office/drawing/2014/main" id="{8EC59059-43FC-16C5-5641-AD3BDB705205}"/>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13</a:t>
            </a:fld>
            <a:endParaRPr lang="en-IN" sz="1600" spc="-1">
              <a:latin typeface="Times New Roman"/>
            </a:endParaRPr>
          </a:p>
        </p:txBody>
      </p:sp>
      <p:pic>
        <p:nvPicPr>
          <p:cNvPr id="3" name="Picture 2">
            <a:extLst>
              <a:ext uri="{FF2B5EF4-FFF2-40B4-BE49-F238E27FC236}">
                <a16:creationId xmlns:a16="http://schemas.microsoft.com/office/drawing/2014/main" id="{27CCC750-5D7C-122E-E515-2121CE9DC5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362366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40B70-1216-02D6-262F-052A2F4E1E4F}"/>
            </a:ext>
          </a:extLst>
        </p:cNvPr>
        <p:cNvGrpSpPr/>
        <p:nvPr/>
      </p:nvGrpSpPr>
      <p:grpSpPr>
        <a:xfrm>
          <a:off x="0" y="0"/>
          <a:ext cx="0" cy="0"/>
          <a:chOff x="0" y="0"/>
          <a:chExt cx="0" cy="0"/>
        </a:xfrm>
      </p:grpSpPr>
      <p:sp>
        <p:nvSpPr>
          <p:cNvPr id="109" name="TextShape 1">
            <a:extLst>
              <a:ext uri="{FF2B5EF4-FFF2-40B4-BE49-F238E27FC236}">
                <a16:creationId xmlns:a16="http://schemas.microsoft.com/office/drawing/2014/main" id="{B60AF336-44CE-7247-0B45-79090645D009}"/>
              </a:ext>
            </a:extLst>
          </p:cNvPr>
          <p:cNvSpPr txBox="1"/>
          <p:nvPr/>
        </p:nvSpPr>
        <p:spPr>
          <a:xfrm>
            <a:off x="239349" y="-57612"/>
            <a:ext cx="11053987" cy="979439"/>
          </a:xfrm>
          <a:prstGeom prst="rect">
            <a:avLst/>
          </a:prstGeom>
          <a:noFill/>
          <a:ln>
            <a:noFill/>
          </a:ln>
        </p:spPr>
        <p:txBody>
          <a:bodyPr lIns="120000" tIns="60000" rIns="120000" bIns="60000" anchor="ctr">
            <a:normAutofit/>
          </a:bodyPr>
          <a:lstStyle/>
          <a:p>
            <a:pPr>
              <a:lnSpc>
                <a:spcPct val="100000"/>
              </a:lnSpc>
            </a:pPr>
            <a:r>
              <a:rPr lang="en-US" sz="3200" b="1" spc="-1" dirty="0">
                <a:solidFill>
                  <a:srgbClr val="8A0000"/>
                </a:solidFill>
                <a:latin typeface="Calibri" panose="020F0502020204030204" pitchFamily="34" charset="0"/>
                <a:ea typeface="Calibri" panose="020F0502020204030204" pitchFamily="34" charset="0"/>
                <a:cs typeface="Calibri" panose="020F0502020204030204" pitchFamily="34" charset="0"/>
              </a:rPr>
              <a:t>Summary</a:t>
            </a:r>
            <a:endParaRPr lang="en-US" sz="7066" b="1" spc="-1" dirty="0">
              <a:solidFill>
                <a:srgbClr val="8A0000"/>
              </a:solidFill>
              <a:latin typeface="Calibri" panose="020F0502020204030204" pitchFamily="34" charset="0"/>
              <a:ea typeface="Calibri" panose="020F0502020204030204" pitchFamily="34" charset="0"/>
              <a:cs typeface="Calibri" panose="020F0502020204030204" pitchFamily="34" charset="0"/>
            </a:endParaRPr>
          </a:p>
        </p:txBody>
      </p:sp>
      <p:sp>
        <p:nvSpPr>
          <p:cNvPr id="110" name="TextShape 2">
            <a:extLst>
              <a:ext uri="{FF2B5EF4-FFF2-40B4-BE49-F238E27FC236}">
                <a16:creationId xmlns:a16="http://schemas.microsoft.com/office/drawing/2014/main" id="{04B85FD5-3FAE-79AB-5054-FA07D62206A0}"/>
              </a:ext>
            </a:extLst>
          </p:cNvPr>
          <p:cNvSpPr txBox="1"/>
          <p:nvPr/>
        </p:nvSpPr>
        <p:spPr>
          <a:xfrm>
            <a:off x="305820" y="740701"/>
            <a:ext cx="11193400" cy="4812680"/>
          </a:xfrm>
          <a:prstGeom prst="rect">
            <a:avLst/>
          </a:prstGeom>
          <a:noFill/>
          <a:ln>
            <a:noFill/>
          </a:ln>
        </p:spPr>
        <p:txBody>
          <a:bodyPr lIns="120000" tIns="60000" rIns="120000" bIns="60000">
            <a:noAutofit/>
          </a:bodyPr>
          <a:lstStyle/>
          <a:p>
            <a:pPr>
              <a:spcBef>
                <a:spcPts val="733"/>
              </a:spcBef>
              <a:buClr>
                <a:srgbClr val="C00000"/>
              </a:buClr>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Key Findings </a:t>
            </a:r>
          </a:p>
          <a:p>
            <a:pPr marL="342900" indent="-34290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Significant efficiency improvement for scheduling process thanks to AI Intelligent emergency classification for fast and efficient appointment allocation</a:t>
            </a:r>
          </a:p>
          <a:p>
            <a:pPr marL="342900" indent="-34290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Increased data safety using a distributed ledger</a:t>
            </a:r>
          </a:p>
          <a:p>
            <a:pPr marL="342900" indent="-34290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Improvement of user interaction and reduced workload using chatbots.</a:t>
            </a:r>
            <a:endParaRPr lang="en-US"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Bef>
                <a:spcPts val="733"/>
              </a:spcBef>
              <a:buClr>
                <a:srgbClr val="C00000"/>
              </a:buClr>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 Limitations</a:t>
            </a:r>
          </a:p>
          <a:p>
            <a:pPr marL="384710" indent="-457189">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Use of synthetic data for experiments</a:t>
            </a:r>
          </a:p>
          <a:p>
            <a:pPr marL="384710" indent="-457189">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Non-real world application of our project</a:t>
            </a:r>
          </a:p>
          <a:p>
            <a:pPr marL="384710" indent="-457189">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Higher computational burden using blockchain</a:t>
            </a:r>
          </a:p>
          <a:p>
            <a:pPr marL="384710" indent="-457189">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Challenges in integration with current hospitals</a:t>
            </a:r>
            <a:endParaRPr lang="en-US"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Bef>
                <a:spcPts val="733"/>
              </a:spcBef>
              <a:buClr>
                <a:srgbClr val="C00000"/>
              </a:buClr>
            </a:pPr>
            <a:r>
              <a:rPr lang="en-US" sz="2667" b="1" spc="-1" dirty="0">
                <a:solidFill>
                  <a:srgbClr val="000000"/>
                </a:solidFill>
                <a:latin typeface="Calibri" panose="020F0502020204030204" pitchFamily="34" charset="0"/>
                <a:ea typeface="Calibri" panose="020F0502020204030204" pitchFamily="34" charset="0"/>
                <a:cs typeface="Calibri" panose="020F0502020204030204" pitchFamily="34" charset="0"/>
              </a:rPr>
              <a:t> Future Directions</a:t>
            </a:r>
          </a:p>
          <a:p>
            <a:pPr marL="285750" indent="-28575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Using real hospital datasets to train our model</a:t>
            </a:r>
          </a:p>
          <a:p>
            <a:pPr marL="285750" indent="-28575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Federated learning for increased privacy</a:t>
            </a:r>
          </a:p>
          <a:p>
            <a:pPr marL="285750" indent="-28575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Development of a mobile application version;</a:t>
            </a:r>
          </a:p>
          <a:p>
            <a:pPr marL="285750" indent="-28575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Real-time health monitoring using IoT technology;</a:t>
            </a:r>
          </a:p>
          <a:p>
            <a:pPr marL="285750" indent="-285750">
              <a:spcBef>
                <a:spcPts val="733"/>
              </a:spcBef>
              <a:buClr>
                <a:srgbClr val="C00000"/>
              </a:buClr>
              <a:buFont typeface="Courier New" panose="02070309020205020404" pitchFamily="49" charset="0"/>
              <a:buChar char="o"/>
            </a:pPr>
            <a:r>
              <a:rPr lang="en-GB" spc="-1" dirty="0">
                <a:solidFill>
                  <a:srgbClr val="000000"/>
                </a:solidFill>
                <a:latin typeface="Calibri" panose="020F0502020204030204" pitchFamily="34" charset="0"/>
                <a:ea typeface="Calibri" panose="020F0502020204030204" pitchFamily="34" charset="0"/>
                <a:cs typeface="Calibri" panose="020F0502020204030204" pitchFamily="34" charset="0"/>
              </a:rPr>
              <a:t>Explainable AI for improving clinical trust.</a:t>
            </a:r>
            <a:endParaRPr lang="en-US"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Bef>
                <a:spcPts val="733"/>
              </a:spcBef>
              <a:buClr>
                <a:srgbClr val="C00000"/>
              </a:buClr>
            </a:pPr>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57189" indent="-457189">
              <a:buFont typeface="Wingdings" panose="05000000000000000000" pitchFamily="2" charset="2"/>
              <a:buChar char="q"/>
            </a:pPr>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536627">
              <a:spcBef>
                <a:spcPts val="733"/>
              </a:spcBef>
            </a:pPr>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09917">
              <a:spcBef>
                <a:spcPts val="801"/>
              </a:spcBef>
            </a:pPr>
            <a:endParaRPr lang="en-US" sz="32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1" name="TextShape 3">
            <a:extLst>
              <a:ext uri="{FF2B5EF4-FFF2-40B4-BE49-F238E27FC236}">
                <a16:creationId xmlns:a16="http://schemas.microsoft.com/office/drawing/2014/main" id="{C0F35EE9-6632-A4B6-2276-B6EF73DD62FE}"/>
              </a:ext>
            </a:extLst>
          </p:cNvPr>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528F5C0C-45A4-465E-8315-A9258DDEFD0F}" type="slidenum">
              <a:rPr lang="en-IN" sz="1600" spc="-1">
                <a:solidFill>
                  <a:srgbClr val="B5A989"/>
                </a:solidFill>
                <a:latin typeface="Gill Sans MT"/>
              </a:rPr>
              <a:pPr algn="ctr">
                <a:lnSpc>
                  <a:spcPct val="100000"/>
                </a:lnSpc>
              </a:pPr>
              <a:t>14</a:t>
            </a:fld>
            <a:endParaRPr lang="en-IN" sz="1600" spc="-1">
              <a:latin typeface="Times New Roman"/>
            </a:endParaRPr>
          </a:p>
        </p:txBody>
      </p:sp>
      <p:pic>
        <p:nvPicPr>
          <p:cNvPr id="3" name="Picture 2">
            <a:extLst>
              <a:ext uri="{FF2B5EF4-FFF2-40B4-BE49-F238E27FC236}">
                <a16:creationId xmlns:a16="http://schemas.microsoft.com/office/drawing/2014/main" id="{D017C302-E233-3B61-E0B1-D2E6140F25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Tree>
    <p:extLst>
      <p:ext uri="{BB962C8B-B14F-4D97-AF65-F5344CB8AC3E}">
        <p14:creationId xmlns:p14="http://schemas.microsoft.com/office/powerpoint/2010/main" val="758775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417" y="158727"/>
            <a:ext cx="11244488" cy="738664"/>
          </a:xfrm>
        </p:spPr>
        <p:txBody>
          <a:bodyPr/>
          <a:lstStyle/>
          <a:p>
            <a:r>
              <a:rPr lang="en-IN" sz="3200" b="1" spc="-1" dirty="0">
                <a:solidFill>
                  <a:srgbClr val="572314"/>
                </a:solidFill>
                <a:latin typeface="Calibri" panose="020F0502020204030204" pitchFamily="34" charset="0"/>
                <a:ea typeface="Calibri" panose="020F0502020204030204" pitchFamily="34" charset="0"/>
                <a:cs typeface="Calibri" panose="020F0502020204030204" pitchFamily="34" charset="0"/>
              </a:rPr>
              <a:t>References</a:t>
            </a:r>
            <a:endParaRPr lang="en-US" sz="3200" b="1" spc="-1" dirty="0">
              <a:solidFill>
                <a:srgbClr val="572314"/>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9F358C6-30AF-91C7-9A73-158A41913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2437" y="160201"/>
            <a:ext cx="2035376" cy="516641"/>
          </a:xfrm>
          <a:prstGeom prst="rect">
            <a:avLst/>
          </a:prstGeom>
        </p:spPr>
      </p:pic>
      <p:sp>
        <p:nvSpPr>
          <p:cNvPr id="6" name="Rectangle 2">
            <a:extLst>
              <a:ext uri="{FF2B5EF4-FFF2-40B4-BE49-F238E27FC236}">
                <a16:creationId xmlns:a16="http://schemas.microsoft.com/office/drawing/2014/main" id="{2484EB3F-CD0F-3653-83E5-8425310BC25A}"/>
              </a:ext>
            </a:extLst>
          </p:cNvPr>
          <p:cNvSpPr>
            <a:spLocks noChangeArrowheads="1"/>
          </p:cNvSpPr>
          <p:nvPr/>
        </p:nvSpPr>
        <p:spPr bwMode="auto">
          <a:xfrm>
            <a:off x="224418" y="549134"/>
            <a:ext cx="11743165"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Gupta, D., &amp; Denton, B. (2008). Appointment scheduling in health care: Challenges and opportunities. </a:t>
            </a:r>
            <a:r>
              <a:rPr kumimoji="0" lang="en-US" altLang="en-US" sz="1800" b="0" i="1" u="none" strike="noStrike" cap="none" normalizeH="0" baseline="0" dirty="0" err="1">
                <a:ln>
                  <a:noFill/>
                </a:ln>
                <a:solidFill>
                  <a:schemeClr val="tx1"/>
                </a:solidFill>
                <a:effectLst/>
                <a:latin typeface="Arial" panose="020B0604020202020204" pitchFamily="34" charset="0"/>
              </a:rPr>
              <a:t>IIETransactio</a:t>
            </a:r>
            <a:br>
              <a:rPr kumimoji="0" lang="en-US" altLang="en-US" sz="1800" b="0" i="1" u="none" strike="noStrike" cap="none" normalizeH="0" baseline="0" dirty="0">
                <a:ln>
                  <a:noFill/>
                </a:ln>
                <a:solidFill>
                  <a:schemeClr val="tx1"/>
                </a:solidFill>
                <a:effectLst/>
                <a:latin typeface="Arial" panose="020B0604020202020204" pitchFamily="34" charset="0"/>
              </a:rPr>
            </a:br>
            <a:r>
              <a:rPr kumimoji="0" lang="en-US" altLang="en-US" sz="1800" b="0" i="1" u="none" strike="noStrike" cap="none" normalizeH="0" baseline="0" dirty="0">
                <a:ln>
                  <a:noFill/>
                </a:ln>
                <a:solidFill>
                  <a:schemeClr val="tx1"/>
                </a:solidFill>
                <a:effectLst/>
                <a:latin typeface="Arial" panose="020B0604020202020204" pitchFamily="34" charset="0"/>
              </a:rPr>
              <a:t>ns, 40</a:t>
            </a:r>
            <a:r>
              <a:rPr kumimoji="0" lang="en-US" altLang="en-US" sz="1800" b="0" i="0" u="none" strike="noStrike" cap="none" normalizeH="0" baseline="0" dirty="0">
                <a:ln>
                  <a:noFill/>
                </a:ln>
                <a:solidFill>
                  <a:schemeClr val="tx1"/>
                </a:solidFill>
                <a:effectLst/>
                <a:latin typeface="Arial" panose="020B0604020202020204" pitchFamily="34" charset="0"/>
              </a:rPr>
              <a:t>(9), 800–819.</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Kuiper, A., </a:t>
            </a:r>
            <a:r>
              <a:rPr kumimoji="0" lang="en-US" altLang="en-US" sz="1800" b="0" i="0" u="none" strike="noStrike" cap="none" normalizeH="0" baseline="0" dirty="0" err="1">
                <a:ln>
                  <a:noFill/>
                </a:ln>
                <a:solidFill>
                  <a:schemeClr val="tx1"/>
                </a:solidFill>
                <a:effectLst/>
                <a:latin typeface="Arial" panose="020B0604020202020204" pitchFamily="34" charset="0"/>
              </a:rPr>
              <a:t>Mandjes</a:t>
            </a:r>
            <a:r>
              <a:rPr kumimoji="0" lang="en-US" altLang="en-US" sz="1800" b="0" i="0" u="none" strike="noStrike" cap="none" normalizeH="0" baseline="0" dirty="0">
                <a:ln>
                  <a:noFill/>
                </a:ln>
                <a:solidFill>
                  <a:schemeClr val="tx1"/>
                </a:solidFill>
                <a:effectLst/>
                <a:latin typeface="Arial" panose="020B0604020202020204" pitchFamily="34" charset="0"/>
              </a:rPr>
              <a:t>, M., de Mast, J., &amp; </a:t>
            </a:r>
            <a:r>
              <a:rPr kumimoji="0" lang="en-US" altLang="en-US" sz="1800" b="0" i="0" u="none" strike="noStrike" cap="none" normalizeH="0" baseline="0" dirty="0" err="1">
                <a:ln>
                  <a:noFill/>
                </a:ln>
                <a:solidFill>
                  <a:schemeClr val="tx1"/>
                </a:solidFill>
                <a:effectLst/>
                <a:latin typeface="Arial" panose="020B0604020202020204" pitchFamily="34" charset="0"/>
              </a:rPr>
              <a:t>Brokkelkamp</a:t>
            </a:r>
            <a:r>
              <a:rPr kumimoji="0" lang="en-US" altLang="en-US" sz="1800" b="0" i="0" u="none" strike="noStrike" cap="none" normalizeH="0" baseline="0" dirty="0">
                <a:ln>
                  <a:noFill/>
                </a:ln>
                <a:solidFill>
                  <a:schemeClr val="tx1"/>
                </a:solidFill>
                <a:effectLst/>
                <a:latin typeface="Arial" panose="020B0604020202020204" pitchFamily="34" charset="0"/>
              </a:rPr>
              <a:t>, R. (2021). A flexible and optimal approach for appointment scheduling in healthcare. </a:t>
            </a:r>
            <a:r>
              <a:rPr kumimoji="0" lang="en-US" altLang="en-US" sz="1800" b="0" i="1" u="none" strike="noStrike" cap="none" normalizeH="0" baseline="0" dirty="0">
                <a:ln>
                  <a:noFill/>
                </a:ln>
                <a:solidFill>
                  <a:schemeClr val="tx1"/>
                </a:solidFill>
                <a:effectLst/>
                <a:latin typeface="Arial" panose="020B0604020202020204" pitchFamily="34" charset="0"/>
              </a:rPr>
              <a:t>Decision Sciences, 54</a:t>
            </a:r>
            <a:r>
              <a:rPr kumimoji="0" lang="en-US" altLang="en-US" sz="1800" b="0" i="0" u="none" strike="noStrike" cap="none" normalizeH="0" baseline="0" dirty="0">
                <a:ln>
                  <a:noFill/>
                </a:ln>
                <a:solidFill>
                  <a:schemeClr val="tx1"/>
                </a:solidFill>
                <a:effectLst/>
                <a:latin typeface="Arial" panose="020B0604020202020204" pitchFamily="34" charset="0"/>
              </a:rPr>
              <a:t>(1), 85–100.</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Rana, S. K., et al. (2022). Blockchain technology and artificial intelligence based decentralized access control model to enable secure interoperability for healthcare. </a:t>
            </a:r>
            <a:r>
              <a:rPr kumimoji="0" lang="en-US" altLang="en-US" sz="1800" b="0" i="1" u="none" strike="noStrike" cap="none" normalizeH="0" baseline="0" dirty="0">
                <a:ln>
                  <a:noFill/>
                </a:ln>
                <a:solidFill>
                  <a:schemeClr val="tx1"/>
                </a:solidFill>
                <a:effectLst/>
                <a:latin typeface="Arial" panose="020B0604020202020204" pitchFamily="34" charset="0"/>
              </a:rPr>
              <a:t>Sustainability, 14</a:t>
            </a:r>
            <a:r>
              <a:rPr kumimoji="0" lang="en-US" altLang="en-US" sz="1800" b="0" i="0" u="none" strike="noStrike" cap="none" normalizeH="0" baseline="0" dirty="0">
                <a:ln>
                  <a:noFill/>
                </a:ln>
                <a:solidFill>
                  <a:schemeClr val="tx1"/>
                </a:solidFill>
                <a:effectLst/>
                <a:latin typeface="Arial" panose="020B0604020202020204" pitchFamily="34" charset="0"/>
              </a:rPr>
              <a:t>(15), 9471.</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S., S., et al. (2024). Revolutionizing healthcare: A comprehensive framework for personalized IoT and cloud computing-driven healthcare services with smart biometric identity management. </a:t>
            </a:r>
            <a:r>
              <a:rPr kumimoji="0" lang="en-US" altLang="en-US" sz="1800" b="0" i="1" u="none" strike="noStrike" cap="none" normalizeH="0" baseline="0" dirty="0">
                <a:ln>
                  <a:noFill/>
                </a:ln>
                <a:solidFill>
                  <a:schemeClr val="tx1"/>
                </a:solidFill>
                <a:effectLst/>
                <a:latin typeface="Arial" panose="020B0604020202020204" pitchFamily="34" charset="0"/>
              </a:rPr>
              <a:t>Journal of Intelligent Systems and Internet of Things, 13</a:t>
            </a:r>
            <a:r>
              <a:rPr kumimoji="0" lang="en-US" altLang="en-US" sz="1800" b="0" i="0" u="none" strike="noStrike" cap="none" normalizeH="0" baseline="0" dirty="0">
                <a:ln>
                  <a:noFill/>
                </a:ln>
                <a:solidFill>
                  <a:schemeClr val="tx1"/>
                </a:solidFill>
                <a:effectLst/>
                <a:latin typeface="Arial" panose="020B0604020202020204" pitchFamily="34" charset="0"/>
              </a:rPr>
              <a:t>(1), 31–45.</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err="1">
                <a:ln>
                  <a:noFill/>
                </a:ln>
                <a:solidFill>
                  <a:schemeClr val="tx1"/>
                </a:solidFill>
                <a:effectLst/>
                <a:latin typeface="Arial" panose="020B0604020202020204" pitchFamily="34" charset="0"/>
              </a:rPr>
              <a:t>Mutegeki</a:t>
            </a:r>
            <a:r>
              <a:rPr kumimoji="0" lang="en-US" altLang="en-US" sz="1800" b="0" i="0" u="none" strike="noStrike" cap="none" normalizeH="0" baseline="0" dirty="0">
                <a:ln>
                  <a:noFill/>
                </a:ln>
                <a:solidFill>
                  <a:schemeClr val="tx1"/>
                </a:solidFill>
                <a:effectLst/>
                <a:latin typeface="Arial" panose="020B0604020202020204" pitchFamily="34" charset="0"/>
              </a:rPr>
              <a:t>, H., Nahabwe, A., </a:t>
            </a:r>
            <a:r>
              <a:rPr kumimoji="0" lang="en-US" altLang="en-US" sz="1800" b="0" i="0" u="none" strike="noStrike" cap="none" normalizeH="0" baseline="0" dirty="0" err="1">
                <a:ln>
                  <a:noFill/>
                </a:ln>
                <a:solidFill>
                  <a:schemeClr val="tx1"/>
                </a:solidFill>
                <a:effectLst/>
                <a:latin typeface="Arial" panose="020B0604020202020204" pitchFamily="34" charset="0"/>
              </a:rPr>
              <a:t>Nakatumba-Nabende</a:t>
            </a:r>
            <a:r>
              <a:rPr kumimoji="0" lang="en-US" altLang="en-US" sz="1800" b="0" i="0" u="none" strike="noStrike" cap="none" normalizeH="0" baseline="0" dirty="0">
                <a:ln>
                  <a:noFill/>
                </a:ln>
                <a:solidFill>
                  <a:schemeClr val="tx1"/>
                </a:solidFill>
                <a:effectLst/>
                <a:latin typeface="Arial" panose="020B0604020202020204" pitchFamily="34" charset="0"/>
              </a:rPr>
              <a:t>, J., &amp; Marvin, G. (2023). Interpretable machine learning-based triage for decision support in emergency care. In </a:t>
            </a:r>
            <a:r>
              <a:rPr kumimoji="0" lang="en-US" altLang="en-US" sz="1800" b="0" i="1" u="none" strike="noStrike" cap="none" normalizeH="0" baseline="0" dirty="0">
                <a:ln>
                  <a:noFill/>
                </a:ln>
                <a:solidFill>
                  <a:schemeClr val="tx1"/>
                </a:solidFill>
                <a:effectLst/>
                <a:latin typeface="Arial" panose="020B0604020202020204" pitchFamily="34" charset="0"/>
              </a:rPr>
              <a:t>2023 7th International Conference on Trends in Electronics and Informatics (ICOEI)</a:t>
            </a:r>
            <a:r>
              <a:rPr kumimoji="0" lang="en-US" altLang="en-US" sz="1800" b="0" i="0" u="none" strike="noStrike" cap="none" normalizeH="0" baseline="0" dirty="0">
                <a:ln>
                  <a:noFill/>
                </a:ln>
                <a:solidFill>
                  <a:schemeClr val="tx1"/>
                </a:solidFill>
                <a:effectLst/>
                <a:latin typeface="Arial" panose="020B0604020202020204" pitchFamily="34" charset="0"/>
              </a:rPr>
              <a:t> (pp. 983–990).</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Williamson, S. M., &amp; </a:t>
            </a:r>
            <a:r>
              <a:rPr kumimoji="0" lang="en-US" altLang="en-US" sz="1800" b="0" i="0" u="none" strike="noStrike" cap="none" normalizeH="0" baseline="0" dirty="0" err="1">
                <a:ln>
                  <a:noFill/>
                </a:ln>
                <a:solidFill>
                  <a:schemeClr val="tx1"/>
                </a:solidFill>
                <a:effectLst/>
                <a:latin typeface="Arial" panose="020B0604020202020204" pitchFamily="34" charset="0"/>
              </a:rPr>
              <a:t>Prybutok</a:t>
            </a:r>
            <a:r>
              <a:rPr kumimoji="0" lang="en-US" altLang="en-US" sz="1800" b="0" i="0" u="none" strike="noStrike" cap="none" normalizeH="0" baseline="0" dirty="0">
                <a:ln>
                  <a:noFill/>
                </a:ln>
                <a:solidFill>
                  <a:schemeClr val="tx1"/>
                </a:solidFill>
                <a:effectLst/>
                <a:latin typeface="Arial" panose="020B0604020202020204" pitchFamily="34" charset="0"/>
              </a:rPr>
              <a:t>, V. (2024). Balancing privacy and progress: A review of privacy challenges, systemic oversight, and patient perceptions in AI-driven healthcare. </a:t>
            </a:r>
            <a:r>
              <a:rPr kumimoji="0" lang="en-US" altLang="en-US" sz="1800" b="0" i="1" u="none" strike="noStrike" cap="none" normalizeH="0" baseline="0" dirty="0">
                <a:ln>
                  <a:noFill/>
                </a:ln>
                <a:solidFill>
                  <a:schemeClr val="tx1"/>
                </a:solidFill>
                <a:effectLst/>
                <a:latin typeface="Arial" panose="020B0604020202020204" pitchFamily="34" charset="0"/>
              </a:rPr>
              <a:t>Applied Sciences, 14</a:t>
            </a:r>
            <a:r>
              <a:rPr kumimoji="0" lang="en-US" altLang="en-US" sz="1800" b="0" i="0" u="none" strike="noStrike" cap="none" normalizeH="0" baseline="0" dirty="0">
                <a:ln>
                  <a:noFill/>
                </a:ln>
                <a:solidFill>
                  <a:schemeClr val="tx1"/>
                </a:solidFill>
                <a:effectLst/>
                <a:latin typeface="Arial" panose="020B0604020202020204" pitchFamily="34" charset="0"/>
              </a:rPr>
              <a:t>(2), 675.</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dirty="0" err="1">
                <a:ln>
                  <a:noFill/>
                </a:ln>
                <a:solidFill>
                  <a:schemeClr val="tx1"/>
                </a:solidFill>
                <a:effectLst/>
                <a:latin typeface="Arial" panose="020B0604020202020204" pitchFamily="34" charset="0"/>
              </a:rPr>
              <a:t>Habehh</a:t>
            </a:r>
            <a:r>
              <a:rPr kumimoji="0" lang="en-US" altLang="en-US" sz="1800" b="0" i="0" u="none" strike="noStrike" cap="none" normalizeH="0" baseline="0" dirty="0">
                <a:ln>
                  <a:noFill/>
                </a:ln>
                <a:solidFill>
                  <a:schemeClr val="tx1"/>
                </a:solidFill>
                <a:effectLst/>
                <a:latin typeface="Arial" panose="020B0604020202020204" pitchFamily="34" charset="0"/>
              </a:rPr>
              <a:t>, H., &amp; Gohel, S. (2021). Machine learning in healthcare. </a:t>
            </a:r>
            <a:r>
              <a:rPr kumimoji="0" lang="en-US" altLang="en-US" sz="1800" b="0" i="1" u="none" strike="noStrike" cap="none" normalizeH="0" baseline="0" dirty="0">
                <a:ln>
                  <a:noFill/>
                </a:ln>
                <a:solidFill>
                  <a:schemeClr val="tx1"/>
                </a:solidFill>
                <a:effectLst/>
                <a:latin typeface="Arial" panose="020B0604020202020204" pitchFamily="34" charset="0"/>
              </a:rPr>
              <a:t>Current Genomics, 22</a:t>
            </a:r>
            <a:r>
              <a:rPr kumimoji="0" lang="en-US" altLang="en-US" sz="1800" b="0" i="0" u="none" strike="noStrike" cap="none" normalizeH="0" baseline="0" dirty="0">
                <a:ln>
                  <a:noFill/>
                </a:ln>
                <a:solidFill>
                  <a:schemeClr val="tx1"/>
                </a:solidFill>
                <a:effectLst/>
                <a:latin typeface="Arial" panose="020B0604020202020204" pitchFamily="34" charset="0"/>
              </a:rPr>
              <a:t>(4), 291–300.</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800" b="0" i="0" u="none" strike="noStrike" cap="none" normalizeH="0" baseline="0" dirty="0">
                <a:ln>
                  <a:noFill/>
                </a:ln>
                <a:solidFill>
                  <a:schemeClr val="tx1"/>
                </a:solidFill>
                <a:effectLst/>
                <a:latin typeface="Arial" panose="020B0604020202020204" pitchFamily="34" charset="0"/>
              </a:rPr>
              <a:t>Wang, X., Peng, M., Lin, H., Wu, Y., &amp; Fan, X. (2023). A privacy-enhanced multiarea task allocation strategy for Healthcare 4.0. </a:t>
            </a:r>
            <a:r>
              <a:rPr kumimoji="0" lang="en-US" altLang="en-US" sz="1800" b="0" i="1" u="none" strike="noStrike" cap="none" normalizeH="0" baseline="0" dirty="0">
                <a:ln>
                  <a:noFill/>
                </a:ln>
                <a:solidFill>
                  <a:schemeClr val="tx1"/>
                </a:solidFill>
                <a:effectLst/>
                <a:latin typeface="Arial" panose="020B0604020202020204" pitchFamily="34" charset="0"/>
              </a:rPr>
              <a:t>IEEE Transactions on Industrial Informatics, 19</a:t>
            </a:r>
            <a:r>
              <a:rPr kumimoji="0" lang="en-US" altLang="en-US" sz="1800" b="0" i="0" u="none" strike="noStrike" cap="none" normalizeH="0" baseline="0" dirty="0">
                <a:ln>
                  <a:noFill/>
                </a:ln>
                <a:solidFill>
                  <a:schemeClr val="tx1"/>
                </a:solidFill>
                <a:effectLst/>
                <a:latin typeface="Arial" panose="020B0604020202020204" pitchFamily="34" charset="0"/>
              </a:rPr>
              <a:t>(3), 2740–2748.</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800" b="0" i="0" u="none" strike="noStrike" cap="none" normalizeH="0" baseline="0" dirty="0">
                <a:ln>
                  <a:noFill/>
                </a:ln>
                <a:solidFill>
                  <a:schemeClr val="tx1"/>
                </a:solidFill>
                <a:effectLst/>
                <a:latin typeface="Arial" panose="020B0604020202020204" pitchFamily="34" charset="0"/>
              </a:rPr>
              <a:t>Satybaldy, A., Hasselgren, A., &amp; </a:t>
            </a:r>
            <a:r>
              <a:rPr kumimoji="0" lang="en-US" altLang="en-US" sz="1800" b="0" i="0" u="none" strike="noStrike" cap="none" normalizeH="0" baseline="0" dirty="0" err="1">
                <a:ln>
                  <a:noFill/>
                </a:ln>
                <a:solidFill>
                  <a:schemeClr val="tx1"/>
                </a:solidFill>
                <a:effectLst/>
                <a:latin typeface="Arial" panose="020B0604020202020204" pitchFamily="34" charset="0"/>
              </a:rPr>
              <a:t>Nowostawski</a:t>
            </a:r>
            <a:r>
              <a:rPr kumimoji="0" lang="en-US" altLang="en-US" sz="1800" b="0" i="0" u="none" strike="noStrike" cap="none" normalizeH="0" baseline="0" dirty="0">
                <a:ln>
                  <a:noFill/>
                </a:ln>
                <a:solidFill>
                  <a:schemeClr val="tx1"/>
                </a:solidFill>
                <a:effectLst/>
                <a:latin typeface="Arial" panose="020B0604020202020204" pitchFamily="34" charset="0"/>
              </a:rPr>
              <a:t>, M. (2022). Decentralized identity management for e-health applications: State-of-the-art and guidance for future work. </a:t>
            </a:r>
            <a:r>
              <a:rPr kumimoji="0" lang="en-US" altLang="en-US" sz="1800" b="0" i="1" u="none" strike="noStrike" cap="none" normalizeH="0" baseline="0" dirty="0">
                <a:ln>
                  <a:noFill/>
                </a:ln>
                <a:solidFill>
                  <a:schemeClr val="tx1"/>
                </a:solidFill>
                <a:effectLst/>
                <a:latin typeface="Arial" panose="020B0604020202020204" pitchFamily="34" charset="0"/>
              </a:rPr>
              <a:t>Blockchain in Healthcare Today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88522-CAF2-39B4-16FA-DEAA9FCFBDE2}"/>
              </a:ext>
            </a:extLst>
          </p:cNvPr>
          <p:cNvSpPr>
            <a:spLocks noGrp="1"/>
          </p:cNvSpPr>
          <p:nvPr>
            <p:ph type="title"/>
          </p:nvPr>
        </p:nvSpPr>
        <p:spPr>
          <a:xfrm>
            <a:off x="314370" y="126244"/>
            <a:ext cx="10278400" cy="763600"/>
          </a:xfrm>
        </p:spPr>
        <p:txBody>
          <a:bodyPr/>
          <a:lstStyle/>
          <a:p>
            <a:r>
              <a:rPr lang="en-IN" sz="3200" b="1" spc="-1" dirty="0">
                <a:solidFill>
                  <a:srgbClr val="572314"/>
                </a:solidFill>
                <a:latin typeface="Calibri" panose="020F0502020204030204" pitchFamily="34" charset="0"/>
                <a:ea typeface="Calibri" panose="020F0502020204030204" pitchFamily="34" charset="0"/>
                <a:cs typeface="Calibri" panose="020F0502020204030204" pitchFamily="34" charset="0"/>
              </a:rPr>
              <a:t>References</a:t>
            </a:r>
            <a:endParaRPr lang="en-IN" sz="3200" dirty="0"/>
          </a:p>
        </p:txBody>
      </p:sp>
      <p:sp>
        <p:nvSpPr>
          <p:cNvPr id="5" name="Rectangle 2">
            <a:extLst>
              <a:ext uri="{FF2B5EF4-FFF2-40B4-BE49-F238E27FC236}">
                <a16:creationId xmlns:a16="http://schemas.microsoft.com/office/drawing/2014/main" id="{FCCB0A1B-E5A4-E11B-B059-92D244C85C47}"/>
              </a:ext>
            </a:extLst>
          </p:cNvPr>
          <p:cNvSpPr>
            <a:spLocks noGrp="1" noChangeArrowheads="1"/>
          </p:cNvSpPr>
          <p:nvPr>
            <p:ph type="body" idx="1"/>
          </p:nvPr>
        </p:nvSpPr>
        <p:spPr bwMode="auto">
          <a:xfrm>
            <a:off x="314370" y="1202817"/>
            <a:ext cx="1170064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800" b="0" i="0" u="none" strike="noStrike" cap="none" normalizeH="0" baseline="0" dirty="0">
                <a:ln>
                  <a:noFill/>
                </a:ln>
                <a:solidFill>
                  <a:schemeClr val="tx1"/>
                </a:solidFill>
                <a:effectLst/>
                <a:latin typeface="Arial" panose="020B0604020202020204" pitchFamily="34" charset="0"/>
              </a:rPr>
              <a:t>Yu, S., Kulkarni, V. G., &amp; Deshpande, V. (2020). Appointment scheduling for a health care facility with series patients. </a:t>
            </a:r>
            <a:r>
              <a:rPr kumimoji="0" lang="en-US" altLang="en-US" sz="1800" b="0" i="1" u="none" strike="noStrike" cap="none" normalizeH="0" baseline="0" dirty="0">
                <a:ln>
                  <a:noFill/>
                </a:ln>
                <a:solidFill>
                  <a:schemeClr val="tx1"/>
                </a:solidFill>
                <a:effectLst/>
                <a:latin typeface="Arial" panose="020B0604020202020204" pitchFamily="34" charset="0"/>
              </a:rPr>
              <a:t>Production and Operations Management, 29</a:t>
            </a:r>
            <a:r>
              <a:rPr kumimoji="0" lang="en-US" altLang="en-US" sz="1800" b="0" i="0" u="none" strike="noStrike" cap="none" normalizeH="0" baseline="0" dirty="0">
                <a:ln>
                  <a:noFill/>
                </a:ln>
                <a:solidFill>
                  <a:schemeClr val="tx1"/>
                </a:solidFill>
                <a:effectLst/>
                <a:latin typeface="Arial" panose="020B0604020202020204" pitchFamily="34" charset="0"/>
              </a:rPr>
              <a:t>(2), 388–409.</a:t>
            </a: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Cárdenas, O., Falconi, S., Tusa, E., &amp; Rodríguez, A. (2024). Development of a chatbot model for health telecare: Integration of </a:t>
            </a: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embeddings with OpenAI, and Pinecone using the question answering technique. </a:t>
            </a:r>
            <a:r>
              <a:rPr kumimoji="0" lang="en-US" altLang="en-US" sz="1800" b="0" i="1" u="none" strike="noStrike" cap="none" normalizeH="0" baseline="0" dirty="0">
                <a:ln>
                  <a:noFill/>
                </a:ln>
                <a:solidFill>
                  <a:schemeClr val="tx1"/>
                </a:solidFill>
                <a:effectLst/>
                <a:latin typeface="Arial" panose="020B0604020202020204" pitchFamily="34" charset="0"/>
              </a:rPr>
              <a:t>Journal of Applied Research and Technology, 22</a:t>
            </a:r>
            <a:r>
              <a:rPr kumimoji="0" lang="en-US" altLang="en-US" sz="1800" b="0" i="0" u="none" strike="noStrike" cap="none" normalizeH="0" baseline="0" dirty="0">
                <a:ln>
                  <a:noFill/>
                </a:ln>
                <a:solidFill>
                  <a:schemeClr val="tx1"/>
                </a:solidFill>
                <a:effectLst/>
                <a:latin typeface="Arial" panose="020B0604020202020204" pitchFamily="34" charset="0"/>
              </a:rPr>
              <a:t>(3), 389–402.</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800" b="0" i="0" u="none" strike="noStrike" cap="none" normalizeH="0" baseline="0" dirty="0">
                <a:ln>
                  <a:noFill/>
                </a:ln>
                <a:solidFill>
                  <a:schemeClr val="tx1"/>
                </a:solidFill>
                <a:effectLst/>
                <a:latin typeface="Arial" panose="020B0604020202020204" pitchFamily="34" charset="0"/>
              </a:rPr>
              <a:t>Schario, M. E., Bahner, C. A., Widenhofer, T. V., </a:t>
            </a:r>
            <a:r>
              <a:rPr kumimoji="0" lang="en-US" altLang="en-US" sz="1800" b="0" i="0" u="none" strike="noStrike" cap="none" normalizeH="0" baseline="0" dirty="0" err="1">
                <a:ln>
                  <a:noFill/>
                </a:ln>
                <a:solidFill>
                  <a:schemeClr val="tx1"/>
                </a:solidFill>
                <a:effectLst/>
                <a:latin typeface="Arial" panose="020B0604020202020204" pitchFamily="34" charset="0"/>
              </a:rPr>
              <a:t>Rajaballey</a:t>
            </a:r>
            <a:r>
              <a:rPr kumimoji="0" lang="en-US" altLang="en-US" sz="1800" b="0" i="0" u="none" strike="noStrike" cap="none" normalizeH="0" baseline="0" dirty="0">
                <a:ln>
                  <a:noFill/>
                </a:ln>
                <a:solidFill>
                  <a:schemeClr val="tx1"/>
                </a:solidFill>
                <a:effectLst/>
                <a:latin typeface="Arial" panose="020B0604020202020204" pitchFamily="34" charset="0"/>
              </a:rPr>
              <a:t>, J. I., &amp; Thatcher, E. J. (2022). Chatbot-assisted care management. </a:t>
            </a:r>
            <a:r>
              <a:rPr kumimoji="0" lang="en-US" altLang="en-US" sz="1800" b="0" i="1" u="none" strike="noStrike" cap="none" normalizeH="0" baseline="0" dirty="0">
                <a:ln>
                  <a:noFill/>
                </a:ln>
                <a:solidFill>
                  <a:schemeClr val="tx1"/>
                </a:solidFill>
                <a:effectLst/>
                <a:latin typeface="Arial" panose="020B0604020202020204" pitchFamily="34" charset="0"/>
              </a:rPr>
              <a:t>Professional Case Management, 27</a:t>
            </a:r>
            <a:r>
              <a:rPr kumimoji="0" lang="en-US" altLang="en-US" sz="1800" b="0" i="0" u="none" strike="noStrike" cap="none" normalizeH="0" baseline="0" dirty="0">
                <a:ln>
                  <a:noFill/>
                </a:ln>
                <a:solidFill>
                  <a:schemeClr val="tx1"/>
                </a:solidFill>
                <a:effectLst/>
                <a:latin typeface="Arial" panose="020B0604020202020204" pitchFamily="34" charset="0"/>
              </a:rPr>
              <a:t>(1), 19–25.</a:t>
            </a: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800" b="0" i="0" u="none" strike="noStrike" cap="none" normalizeH="0" baseline="0" dirty="0">
                <a:ln>
                  <a:noFill/>
                </a:ln>
                <a:solidFill>
                  <a:schemeClr val="tx1"/>
                </a:solidFill>
                <a:effectLst/>
                <a:latin typeface="Arial" panose="020B0604020202020204" pitchFamily="34" charset="0"/>
              </a:rPr>
              <a:t>Khan, M. A., Din, I. U., Majali, T., &amp; Kim, B.-S. (2022). A survey of authentication in Internet of Things-enabled healthcare systems. </a:t>
            </a:r>
            <a:r>
              <a:rPr kumimoji="0" lang="en-US" altLang="en-US" sz="1800" b="0" i="1" u="none" strike="noStrike" cap="none" normalizeH="0" baseline="0" dirty="0">
                <a:ln>
                  <a:noFill/>
                </a:ln>
                <a:solidFill>
                  <a:schemeClr val="tx1"/>
                </a:solidFill>
                <a:effectLst/>
                <a:latin typeface="Arial" panose="020B0604020202020204" pitchFamily="34" charset="0"/>
              </a:rPr>
              <a:t>Sensors, 22</a:t>
            </a:r>
            <a:r>
              <a:rPr kumimoji="0" lang="en-US" altLang="en-US" sz="1800" b="0" i="0" u="none" strike="noStrike" cap="none" normalizeH="0" baseline="0" dirty="0">
                <a:ln>
                  <a:noFill/>
                </a:ln>
                <a:solidFill>
                  <a:schemeClr val="tx1"/>
                </a:solidFill>
                <a:effectLst/>
                <a:latin typeface="Arial" panose="020B0604020202020204" pitchFamily="34" charset="0"/>
              </a:rPr>
              <a:t>(23), 9089.</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800" b="0" i="0" u="none" strike="noStrike" cap="none" normalizeH="0" baseline="0" dirty="0" err="1">
                <a:ln>
                  <a:noFill/>
                </a:ln>
                <a:solidFill>
                  <a:schemeClr val="tx1"/>
                </a:solidFill>
                <a:effectLst/>
                <a:latin typeface="Arial" panose="020B0604020202020204" pitchFamily="34" charset="0"/>
              </a:rPr>
              <a:t>Elnawawy</a:t>
            </a:r>
            <a:r>
              <a:rPr kumimoji="0" lang="en-US" altLang="en-US" sz="1800" b="0" i="0" u="none" strike="noStrike" cap="none" normalizeH="0" baseline="0" dirty="0">
                <a:ln>
                  <a:noFill/>
                </a:ln>
                <a:solidFill>
                  <a:schemeClr val="tx1"/>
                </a:solidFill>
                <a:effectLst/>
                <a:latin typeface="Arial" panose="020B0604020202020204" pitchFamily="34" charset="0"/>
              </a:rPr>
              <a:t>, M., </a:t>
            </a:r>
            <a:r>
              <a:rPr kumimoji="0" lang="en-US" altLang="en-US" sz="1800" b="0" i="0" u="none" strike="noStrike" cap="none" normalizeH="0" baseline="0" dirty="0" err="1">
                <a:ln>
                  <a:noFill/>
                </a:ln>
                <a:solidFill>
                  <a:schemeClr val="tx1"/>
                </a:solidFill>
                <a:effectLst/>
                <a:latin typeface="Arial" panose="020B0604020202020204" pitchFamily="34" charset="0"/>
              </a:rPr>
              <a:t>Hallajiyan</a:t>
            </a:r>
            <a:r>
              <a:rPr kumimoji="0" lang="en-US" altLang="en-US" sz="1800" b="0" i="0" u="none" strike="noStrike" cap="none" normalizeH="0" baseline="0" dirty="0">
                <a:ln>
                  <a:noFill/>
                </a:ln>
                <a:solidFill>
                  <a:schemeClr val="tx1"/>
                </a:solidFill>
                <a:effectLst/>
                <a:latin typeface="Arial" panose="020B0604020202020204" pitchFamily="34" charset="0"/>
              </a:rPr>
              <a:t>, M., Mitra, G., Iqbal, S., &amp; </a:t>
            </a:r>
            <a:r>
              <a:rPr kumimoji="0" lang="en-US" altLang="en-US" sz="1800" b="0" i="0" u="none" strike="noStrike" cap="none" normalizeH="0" baseline="0" dirty="0" err="1">
                <a:ln>
                  <a:noFill/>
                </a:ln>
                <a:solidFill>
                  <a:schemeClr val="tx1"/>
                </a:solidFill>
                <a:effectLst/>
                <a:latin typeface="Arial" panose="020B0604020202020204" pitchFamily="34" charset="0"/>
              </a:rPr>
              <a:t>Pattabiraman</a:t>
            </a:r>
            <a:r>
              <a:rPr kumimoji="0" lang="en-US" altLang="en-US" sz="1800" b="0" i="0" u="none" strike="noStrike" cap="none" normalizeH="0" baseline="0" dirty="0">
                <a:ln>
                  <a:noFill/>
                </a:ln>
                <a:solidFill>
                  <a:schemeClr val="tx1"/>
                </a:solidFill>
                <a:effectLst/>
                <a:latin typeface="Arial" panose="020B0604020202020204" pitchFamily="34" charset="0"/>
              </a:rPr>
              <a:t>, K. (2024). Systematically assessing the security risks of AI/ML-enabled connected healthcare systems. In </a:t>
            </a:r>
            <a:r>
              <a:rPr kumimoji="0" lang="en-US" altLang="en-US" sz="1800" b="0" i="1" u="none" strike="noStrike" cap="none" normalizeH="0" baseline="0" dirty="0">
                <a:ln>
                  <a:noFill/>
                </a:ln>
                <a:solidFill>
                  <a:schemeClr val="tx1"/>
                </a:solidFill>
                <a:effectLst/>
                <a:latin typeface="Arial" panose="020B0604020202020204" pitchFamily="34" charset="0"/>
              </a:rPr>
              <a:t>2024 IEEE/ACM Conference on Connected Health: Applications, Systems and Engineering Technologies (CHASE)</a:t>
            </a:r>
            <a:r>
              <a:rPr kumimoji="0" lang="en-US" altLang="en-US" sz="1800" b="0" i="0" u="none" strike="noStrike" cap="none" normalizeH="0" baseline="0" dirty="0">
                <a:ln>
                  <a:noFill/>
                </a:ln>
                <a:solidFill>
                  <a:schemeClr val="tx1"/>
                </a:solidFill>
                <a:effectLst/>
                <a:latin typeface="Arial" panose="020B0604020202020204" pitchFamily="34" charset="0"/>
              </a:rPr>
              <a:t> (pp. 97–108).</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800" b="0" i="0" u="none" strike="noStrike" cap="none" normalizeH="0" baseline="0" dirty="0">
                <a:ln>
                  <a:noFill/>
                </a:ln>
                <a:solidFill>
                  <a:schemeClr val="tx1"/>
                </a:solidFill>
                <a:effectLst/>
                <a:latin typeface="Arial" panose="020B0604020202020204" pitchFamily="34" charset="0"/>
              </a:rPr>
              <a:t>Shihab, S., &amp; </a:t>
            </a:r>
            <a:r>
              <a:rPr kumimoji="0" lang="en-US" altLang="en-US" sz="1800" b="0" i="0" u="none" strike="noStrike" cap="none" normalizeH="0" baseline="0" dirty="0" err="1">
                <a:ln>
                  <a:noFill/>
                </a:ln>
                <a:solidFill>
                  <a:schemeClr val="tx1"/>
                </a:solidFill>
                <a:effectLst/>
                <a:latin typeface="Arial" panose="020B0604020202020204" pitchFamily="34" charset="0"/>
              </a:rPr>
              <a:t>AlTawy</a:t>
            </a:r>
            <a:r>
              <a:rPr kumimoji="0" lang="en-US" altLang="en-US" sz="1800" b="0" i="0" u="none" strike="noStrike" cap="none" normalizeH="0" baseline="0" dirty="0">
                <a:ln>
                  <a:noFill/>
                </a:ln>
                <a:solidFill>
                  <a:schemeClr val="tx1"/>
                </a:solidFill>
                <a:effectLst/>
                <a:latin typeface="Arial" panose="020B0604020202020204" pitchFamily="34" charset="0"/>
              </a:rPr>
              <a:t>, R. (2023). Lightweight authentication scheme for healthcare with robustness to desynchronization attacks. </a:t>
            </a:r>
            <a:r>
              <a:rPr kumimoji="0" lang="en-US" altLang="en-US" sz="1800" b="0" i="1" u="none" strike="noStrike" cap="none" normalizeH="0" baseline="0" dirty="0">
                <a:ln>
                  <a:noFill/>
                </a:ln>
                <a:solidFill>
                  <a:schemeClr val="tx1"/>
                </a:solidFill>
                <a:effectLst/>
                <a:latin typeface="Arial" panose="020B0604020202020204" pitchFamily="34" charset="0"/>
              </a:rPr>
              <a:t>IEEE Internet of Things Journal, 10</a:t>
            </a:r>
            <a:r>
              <a:rPr kumimoji="0" lang="en-US" altLang="en-US" sz="1800" b="0" i="0" u="none" strike="noStrike" cap="none" normalizeH="0" baseline="0" dirty="0">
                <a:ln>
                  <a:noFill/>
                </a:ln>
                <a:solidFill>
                  <a:schemeClr val="tx1"/>
                </a:solidFill>
                <a:effectLst/>
                <a:latin typeface="Arial" panose="020B0604020202020204" pitchFamily="34" charset="0"/>
              </a:rPr>
              <a:t>(20), 18140–18153.</a:t>
            </a: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800" b="0" i="0" u="none" strike="noStrike" cap="none" normalizeH="0" baseline="0" dirty="0">
                <a:ln>
                  <a:noFill/>
                </a:ln>
                <a:solidFill>
                  <a:schemeClr val="tx1"/>
                </a:solidFill>
                <a:effectLst/>
                <a:latin typeface="Arial" panose="020B0604020202020204" pitchFamily="34" charset="0"/>
              </a:rPr>
              <a:t>Islam Riad, A. K., et al. (2024). Enhancing HIPAA compliance in AI-driven mHealth devices security and privacy. In </a:t>
            </a:r>
            <a:r>
              <a:rPr kumimoji="0" lang="en-US" altLang="en-US" sz="1800" b="0" i="1" u="none" strike="noStrike" cap="none" normalizeH="0" baseline="0" dirty="0">
                <a:ln>
                  <a:noFill/>
                </a:ln>
                <a:solidFill>
                  <a:schemeClr val="tx1"/>
                </a:solidFill>
                <a:effectLst/>
                <a:latin typeface="Arial" panose="020B0604020202020204" pitchFamily="34" charset="0"/>
              </a:rPr>
              <a:t>2024 IEEE 48th Annual Computers, Software, and Applications Conference (COMPSAC)</a:t>
            </a:r>
            <a:r>
              <a:rPr kumimoji="0" lang="en-US" altLang="en-US" sz="1800" b="0" i="0" u="none" strike="noStrike" cap="none" normalizeH="0" baseline="0" dirty="0">
                <a:ln>
                  <a:noFill/>
                </a:ln>
                <a:solidFill>
                  <a:schemeClr val="tx1"/>
                </a:solidFill>
                <a:effectLst/>
                <a:latin typeface="Arial" panose="020B0604020202020204" pitchFamily="34" charset="0"/>
              </a:rPr>
              <a:t> (pp. 2430–2435).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8128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1914240" y="274680"/>
            <a:ext cx="9996960" cy="1142640"/>
          </a:xfrm>
          <a:prstGeom prst="rect">
            <a:avLst/>
          </a:prstGeom>
          <a:noFill/>
          <a:ln>
            <a:noFill/>
          </a:ln>
        </p:spPr>
        <p:txBody>
          <a:bodyPr lIns="120000" tIns="60000" rIns="120000" bIns="60000" anchor="ctr">
            <a:noAutofit/>
          </a:bodyPr>
          <a:lstStyle/>
          <a:p>
            <a:endParaRPr lang="en-US" sz="2400" spc="-1">
              <a:solidFill>
                <a:srgbClr val="000000"/>
              </a:solidFill>
              <a:latin typeface="Gill Sans MT"/>
            </a:endParaRPr>
          </a:p>
        </p:txBody>
      </p:sp>
      <p:sp>
        <p:nvSpPr>
          <p:cNvPr id="125" name="TextShape 2"/>
          <p:cNvSpPr txBox="1"/>
          <p:nvPr/>
        </p:nvSpPr>
        <p:spPr>
          <a:xfrm>
            <a:off x="11484960" y="6305400"/>
            <a:ext cx="609120" cy="475920"/>
          </a:xfrm>
          <a:prstGeom prst="rect">
            <a:avLst/>
          </a:prstGeom>
          <a:noFill/>
          <a:ln>
            <a:noFill/>
          </a:ln>
        </p:spPr>
        <p:txBody>
          <a:bodyPr lIns="120000" tIns="60000" rIns="120000" bIns="60000" anchor="b">
            <a:noAutofit/>
          </a:bodyPr>
          <a:lstStyle/>
          <a:p>
            <a:pPr algn="ctr">
              <a:lnSpc>
                <a:spcPct val="100000"/>
              </a:lnSpc>
            </a:pPr>
            <a:fld id="{087FA15C-8669-41A7-83ED-7B46D054D84B}" type="slidenum">
              <a:rPr lang="en-IN" sz="1600" spc="-1">
                <a:solidFill>
                  <a:srgbClr val="B5A989"/>
                </a:solidFill>
                <a:latin typeface="Gill Sans MT"/>
              </a:rPr>
              <a:pPr algn="ctr">
                <a:lnSpc>
                  <a:spcPct val="100000"/>
                </a:lnSpc>
              </a:pPr>
              <a:t>17</a:t>
            </a:fld>
            <a:endParaRPr lang="en-IN" sz="1600" spc="-1">
              <a:latin typeface="Times New Roman"/>
            </a:endParaRPr>
          </a:p>
        </p:txBody>
      </p:sp>
      <p:pic>
        <p:nvPicPr>
          <p:cNvPr id="3" name="Picture 2">
            <a:extLst>
              <a:ext uri="{FF2B5EF4-FFF2-40B4-BE49-F238E27FC236}">
                <a16:creationId xmlns:a16="http://schemas.microsoft.com/office/drawing/2014/main" id="{20FCBCE0-B505-3CFD-B630-DF11CC080465}"/>
              </a:ext>
            </a:extLst>
          </p:cNvPr>
          <p:cNvPicPr>
            <a:picLocks noChangeAspect="1"/>
          </p:cNvPicPr>
          <p:nvPr/>
        </p:nvPicPr>
        <p:blipFill>
          <a:blip r:embed="rId2"/>
          <a:stretch>
            <a:fillRect/>
          </a:stretch>
        </p:blipFill>
        <p:spPr>
          <a:xfrm>
            <a:off x="3167674" y="2123332"/>
            <a:ext cx="5856652" cy="26113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1681</Words>
  <Application>Microsoft Office PowerPoint</Application>
  <PresentationFormat>Widescreen</PresentationFormat>
  <Paragraphs>181</Paragraphs>
  <Slides>17</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Arial</vt:lpstr>
      <vt:lpstr>Arial Black</vt:lpstr>
      <vt:lpstr>Arial Narrow</vt:lpstr>
      <vt:lpstr>Bebas Neue</vt:lpstr>
      <vt:lpstr>Calibri</vt:lpstr>
      <vt:lpstr>Calibri Light</vt:lpstr>
      <vt:lpstr>Courier New</vt:lpstr>
      <vt:lpstr>Gill Sans MT</vt:lpstr>
      <vt:lpstr>Quicksand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Samuka Mohanty</dc:creator>
  <cp:lastModifiedBy>Phani Pragnesh</cp:lastModifiedBy>
  <cp:revision>5</cp:revision>
  <dcterms:created xsi:type="dcterms:W3CDTF">2026-05-03T04:16:34Z</dcterms:created>
  <dcterms:modified xsi:type="dcterms:W3CDTF">2026-05-07T13:03:13Z</dcterms:modified>
</cp:coreProperties>
</file>